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82" d="100"/>
          <a:sy n="82" d="100"/>
        </p:scale>
        <p:origin x="691" y="53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6/10/2026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6/10/2026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6/10/2026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6/10/2026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6/10/2026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6/10/2026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6/10/2026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6/10/2026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6/10/2026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6/10/2026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6/10/2026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6/10/2026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F2D3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60000" cy="6858000"/>
          </a:xfrm>
          <a:prstGeom prst="rect">
            <a:avLst/>
          </a:prstGeom>
          <a:solidFill>
            <a:srgbClr val="E86A1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900000" y="1700000"/>
            <a:ext cx="10400000" cy="18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4400" b="1" i="0">
                <a:solidFill>
                  <a:srgbClr val="FFFFFF"/>
                </a:solidFill>
                <a:latin typeface="Calibri"/>
              </a:rPr>
              <a:t>Food Moo Duu - Hệ thống gợi ý món ăn thông minh offline</a:t>
            </a:r>
          </a:p>
          <a:p>
            <a:pPr>
              <a:spcBef>
                <a:spcPts val="1000"/>
              </a:spcBef>
            </a:pPr>
            <a:r>
              <a:rPr sz="2000" b="0" i="1">
                <a:solidFill>
                  <a:srgbClr val="E86A17"/>
                </a:solidFill>
                <a:latin typeface="Calibri"/>
              </a:rPr>
              <a:t>"Là bò, sáng phải rống - Là người, sống phải ráng"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00000" y="4100000"/>
            <a:ext cx="10400000" cy="18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 i="0">
                <a:solidFill>
                  <a:srgbClr val="127C8A"/>
                </a:solidFill>
                <a:latin typeface="Calibri"/>
              </a:rPr>
              <a:t>Nhóm thực hiện</a:t>
            </a:r>
          </a:p>
          <a:p>
            <a:r>
              <a:rPr sz="1600" b="0" i="0">
                <a:solidFill>
                  <a:srgbClr val="F5F1E8"/>
                </a:solidFill>
                <a:latin typeface="Calibri"/>
              </a:rPr>
              <a:t>Trần Việt Hoàng  -  Layer 1 - Định nghĩa Tag + Kiến trúc tổng thể</a:t>
            </a:r>
          </a:p>
          <a:p>
            <a:r>
              <a:rPr sz="1600" b="0" i="0">
                <a:solidFill>
                  <a:srgbClr val="F5F1E8"/>
                </a:solidFill>
                <a:latin typeface="Calibri"/>
              </a:rPr>
              <a:t>Bùi Đức Anh  -  Layer 2 - Adaptive Recommendation</a:t>
            </a:r>
          </a:p>
          <a:p>
            <a:r>
              <a:rPr sz="1600" b="0" i="0">
                <a:solidFill>
                  <a:srgbClr val="F5F1E8"/>
                </a:solidFill>
                <a:latin typeface="Calibri"/>
              </a:rPr>
              <a:t>Trần Bình Minh  -  Layer 3 - Genetic Response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1E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60000" cy="6858000"/>
          </a:xfrm>
          <a:prstGeom prst="rect">
            <a:avLst/>
          </a:prstGeom>
          <a:solidFill>
            <a:srgbClr val="E86A1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00000" y="350000"/>
            <a:ext cx="9800000" cy="9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000" b="1" i="0">
                <a:solidFill>
                  <a:srgbClr val="1F2D3D"/>
                </a:solidFill>
                <a:latin typeface="Calibri"/>
              </a:rPr>
              <a:t>Vấn đề &amp; Mục tiêu</a:t>
            </a:r>
          </a:p>
        </p:txBody>
      </p:sp>
      <p:sp>
        <p:nvSpPr>
          <p:cNvPr id="4" name="Rectangle 3"/>
          <p:cNvSpPr/>
          <p:nvPr/>
        </p:nvSpPr>
        <p:spPr>
          <a:xfrm>
            <a:off x="9400000" y="380000"/>
            <a:ext cx="2400000" cy="520000"/>
          </a:xfrm>
          <a:prstGeom prst="rect">
            <a:avLst/>
          </a:prstGeom>
          <a:solidFill>
            <a:srgbClr val="127C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1200" b="1" i="0">
                <a:solidFill>
                  <a:srgbClr val="FFFFFF"/>
                </a:solidFill>
                <a:latin typeface="Calibri"/>
              </a:rPr>
              <a:t>Hoàng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00000" y="1450000"/>
            <a:ext cx="11000000" cy="50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1000"/>
              </a:spcBef>
            </a:pPr>
            <a:r>
              <a:rPr sz="1900" b="1" i="0">
                <a:solidFill>
                  <a:srgbClr val="E86A17"/>
                </a:solidFill>
                <a:latin typeface="Calibri"/>
              </a:rPr>
              <a:t>Vấn đề</a:t>
            </a:r>
          </a:p>
          <a:p>
            <a:pPr>
              <a:spcBef>
                <a:spcPts val="500"/>
              </a:spcBef>
            </a:pPr>
            <a:r>
              <a:rPr sz="1600" b="0" i="0">
                <a:solidFill>
                  <a:srgbClr val="1F2D3D"/>
                </a:solidFill>
                <a:latin typeface="Calibri"/>
              </a:rPr>
              <a:t>•  Người dùng mô tả nhu cầu ăn uống bằng ngôn ngữ tự nhiên, đa chiều (thời gian, thời tiết, tâm trạng, khẩu vị)</a:t>
            </a:r>
          </a:p>
          <a:p>
            <a:pPr>
              <a:spcBef>
                <a:spcPts val="500"/>
              </a:spcBef>
            </a:pPr>
            <a:r>
              <a:rPr sz="1600" b="0" i="0">
                <a:solidFill>
                  <a:srgbClr val="1F2D3D"/>
                </a:solidFill>
                <a:latin typeface="Calibri"/>
              </a:rPr>
              <a:t>•  Cần hệ thống offline, không phụ thuộc API cloud</a:t>
            </a:r>
          </a:p>
          <a:p>
            <a:pPr>
              <a:spcBef>
                <a:spcPts val="500"/>
              </a:spcBef>
            </a:pPr>
            <a:r>
              <a:rPr sz="1600" b="0" i="0">
                <a:solidFill>
                  <a:srgbClr val="1F2D3D"/>
                </a:solidFill>
                <a:latin typeface="Calibri"/>
              </a:rPr>
              <a:t>•  Cần học từ phản hồi khi người dùng chọn hoặc bỏ qua gợi ý</a:t>
            </a:r>
          </a:p>
          <a:p>
            <a:pPr>
              <a:spcBef>
                <a:spcPts val="1000"/>
              </a:spcBef>
            </a:pPr>
            <a:r>
              <a:rPr sz="1900" b="1" i="0">
                <a:solidFill>
                  <a:srgbClr val="E86A17"/>
                </a:solidFill>
                <a:latin typeface="Calibri"/>
              </a:rPr>
              <a:t>Mục tiêu</a:t>
            </a:r>
          </a:p>
          <a:p>
            <a:pPr>
              <a:spcBef>
                <a:spcPts val="500"/>
              </a:spcBef>
            </a:pPr>
            <a:r>
              <a:rPr sz="1600" b="0" i="0">
                <a:solidFill>
                  <a:srgbClr val="1F2D3D"/>
                </a:solidFill>
                <a:latin typeface="Calibri"/>
              </a:rPr>
              <a:t>•  Xây dựng chatbot gợi ý món ăn theo kiến trúc 3 tầng</a:t>
            </a:r>
          </a:p>
          <a:p>
            <a:pPr>
              <a:spcBef>
                <a:spcPts val="500"/>
              </a:spcBef>
            </a:pPr>
            <a:r>
              <a:rPr sz="1600" b="0" i="0">
                <a:solidFill>
                  <a:srgbClr val="1F2D3D"/>
                </a:solidFill>
                <a:latin typeface="Calibri"/>
              </a:rPr>
              <a:t>•  Theo dõi ngữ cảnh hội thoại nhiều lượt (multi-turn)</a:t>
            </a:r>
          </a:p>
          <a:p>
            <a:pPr>
              <a:spcBef>
                <a:spcPts val="500"/>
              </a:spcBef>
            </a:pPr>
            <a:r>
              <a:rPr sz="1600" b="0" i="0">
                <a:solidFill>
                  <a:srgbClr val="1F2D3D"/>
                </a:solidFill>
                <a:latin typeface="Calibri"/>
              </a:rPr>
              <a:t>•  Tự cập nhật mô hình gợi ý và câu trả lời theo feedback ngầm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1E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60000" cy="6858000"/>
          </a:xfrm>
          <a:prstGeom prst="rect">
            <a:avLst/>
          </a:prstGeom>
          <a:solidFill>
            <a:srgbClr val="E86A1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00000" y="350000"/>
            <a:ext cx="9800000" cy="9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000" b="1" i="0">
                <a:solidFill>
                  <a:srgbClr val="1F2D3D"/>
                </a:solidFill>
                <a:latin typeface="Calibri"/>
              </a:rPr>
              <a:t>Tổng quan giải pháp</a:t>
            </a:r>
          </a:p>
        </p:txBody>
      </p:sp>
      <p:sp>
        <p:nvSpPr>
          <p:cNvPr id="4" name="Rectangle 3"/>
          <p:cNvSpPr/>
          <p:nvPr/>
        </p:nvSpPr>
        <p:spPr>
          <a:xfrm>
            <a:off x="9400000" y="380000"/>
            <a:ext cx="2400000" cy="520000"/>
          </a:xfrm>
          <a:prstGeom prst="rect">
            <a:avLst/>
          </a:prstGeom>
          <a:solidFill>
            <a:srgbClr val="127C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1200" b="1" i="0">
                <a:solidFill>
                  <a:srgbClr val="FFFFFF"/>
                </a:solidFill>
                <a:latin typeface="Calibri"/>
              </a:rPr>
              <a:t>Hoàng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00000" y="1450000"/>
            <a:ext cx="11000000" cy="50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1000"/>
              </a:spcBef>
            </a:pPr>
            <a:r>
              <a:rPr sz="1900" b="1" i="0">
                <a:solidFill>
                  <a:srgbClr val="E86A17"/>
                </a:solidFill>
                <a:latin typeface="Calibri"/>
              </a:rPr>
              <a:t>Ý tưởng cốt lõi</a:t>
            </a:r>
          </a:p>
          <a:p>
            <a:pPr>
              <a:spcBef>
                <a:spcPts val="500"/>
              </a:spcBef>
            </a:pPr>
            <a:r>
              <a:rPr sz="1600" b="0" i="0">
                <a:solidFill>
                  <a:srgbClr val="1F2D3D"/>
                </a:solidFill>
                <a:latin typeface="Calibri"/>
              </a:rPr>
              <a:t>•  Pipeline xử lý tuần tự 3 layer: DL + học trực tuyến + thuật toán di truyền</a:t>
            </a:r>
          </a:p>
          <a:p>
            <a:pPr>
              <a:spcBef>
                <a:spcPts val="1000"/>
              </a:spcBef>
            </a:pPr>
            <a:r>
              <a:rPr sz="1900" b="1" i="0">
                <a:solidFill>
                  <a:srgbClr val="E86A17"/>
                </a:solidFill>
                <a:latin typeface="Calibri"/>
              </a:rPr>
              <a:t>Điểm nổi bật</a:t>
            </a:r>
          </a:p>
          <a:p>
            <a:pPr>
              <a:spcBef>
                <a:spcPts val="500"/>
              </a:spcBef>
            </a:pPr>
            <a:r>
              <a:rPr sz="1600" b="0" i="0">
                <a:solidFill>
                  <a:srgbClr val="1F2D3D"/>
                </a:solidFill>
                <a:latin typeface="Calibri"/>
              </a:rPr>
              <a:t>•  Offline end-to-end qua main.py -&gt; FoodSuggestionPipeline</a:t>
            </a:r>
          </a:p>
          <a:p>
            <a:pPr>
              <a:spcBef>
                <a:spcPts val="500"/>
              </a:spcBef>
            </a:pPr>
            <a:r>
              <a:rPr sz="1600" b="0" i="0">
                <a:solidFill>
                  <a:srgbClr val="1F2D3D"/>
                </a:solidFill>
                <a:latin typeface="Calibri"/>
              </a:rPr>
              <a:t>•  Mỗi layer chạy độc lập được (train/test/docker riêng)</a:t>
            </a:r>
          </a:p>
          <a:p>
            <a:pPr>
              <a:spcBef>
                <a:spcPts val="500"/>
              </a:spcBef>
            </a:pPr>
            <a:r>
              <a:rPr sz="1600" b="0" i="0">
                <a:solidFill>
                  <a:srgbClr val="1F2D3D"/>
                </a:solidFill>
                <a:latin typeface="Calibri"/>
              </a:rPr>
              <a:t>•  Dữ liệu train và runtime tách biệt rõ ràng</a:t>
            </a:r>
          </a:p>
          <a:p>
            <a:pPr>
              <a:spcBef>
                <a:spcPts val="1000"/>
              </a:spcBef>
            </a:pPr>
            <a:r>
              <a:rPr sz="1900" b="1" i="0">
                <a:solidFill>
                  <a:srgbClr val="E86A17"/>
                </a:solidFill>
                <a:latin typeface="Calibri"/>
              </a:rPr>
              <a:t>Công nghệ</a:t>
            </a:r>
          </a:p>
          <a:p>
            <a:pPr>
              <a:spcBef>
                <a:spcPts val="500"/>
              </a:spcBef>
            </a:pPr>
            <a:r>
              <a:rPr sz="1600" b="0" i="0">
                <a:solidFill>
                  <a:srgbClr val="1F2D3D"/>
                </a:solidFill>
                <a:latin typeface="Calibri"/>
              </a:rPr>
              <a:t>•  Python, PyTorch, scikit-learn, pandas, Docker, Makefile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1E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60000" cy="6858000"/>
          </a:xfrm>
          <a:prstGeom prst="rect">
            <a:avLst/>
          </a:prstGeom>
          <a:solidFill>
            <a:srgbClr val="E86A1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00000" y="300000"/>
            <a:ext cx="9800000" cy="85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 i="0">
                <a:solidFill>
                  <a:srgbClr val="1F2D3D"/>
                </a:solidFill>
                <a:latin typeface="Calibri"/>
              </a:rPr>
              <a:t>Kiến trúc hệ thống (sơ đồ tổng thể)</a:t>
            </a:r>
          </a:p>
        </p:txBody>
      </p:sp>
      <p:sp>
        <p:nvSpPr>
          <p:cNvPr id="4" name="Rectangle 3"/>
          <p:cNvSpPr/>
          <p:nvPr/>
        </p:nvSpPr>
        <p:spPr>
          <a:xfrm>
            <a:off x="9400000" y="330000"/>
            <a:ext cx="2400000" cy="520000"/>
          </a:xfrm>
          <a:prstGeom prst="rect">
            <a:avLst/>
          </a:prstGeom>
          <a:solidFill>
            <a:srgbClr val="127C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200" b="1" i="0">
                <a:solidFill>
                  <a:srgbClr val="FFFFFF"/>
                </a:solidFill>
                <a:latin typeface="Calibri"/>
              </a:rPr>
              <a:t>Hoàng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00000" y="1250000"/>
            <a:ext cx="11000000" cy="19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500" b="1" i="0">
                <a:solidFill>
                  <a:srgbClr val="E86A17"/>
                </a:solidFill>
                <a:latin typeface="Calibri"/>
              </a:rPr>
              <a:t>Luồng xử lý + 2 vòng phản hồi</a:t>
            </a:r>
          </a:p>
          <a:p>
            <a:r>
              <a:rPr sz="1300" b="0" i="0">
                <a:solidFill>
                  <a:srgbClr val="1F2D3D"/>
                </a:solidFill>
                <a:latin typeface="Calibri"/>
              </a:rPr>
              <a:t>•  User -&gt; L1 (Intent+DST) -&gt; L2 (Scoring) -&gt; L3 (Response) -&gt; User</a:t>
            </a:r>
          </a:p>
          <a:p>
            <a:r>
              <a:rPr sz="1300" b="0" i="0">
                <a:solidFill>
                  <a:srgbClr val="1F2D3D"/>
                </a:solidFill>
                <a:latin typeface="Calibri"/>
              </a:rPr>
              <a:t>•  Feedback: Hebbian update (L2) + Fitness update (L3); RL offline cho L1</a:t>
            </a:r>
          </a:p>
        </p:txBody>
      </p:sp>
      <p:pic>
        <p:nvPicPr>
          <p:cNvPr id="6" name="Picture 5" descr="system_architectur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417347" y="2463282"/>
            <a:ext cx="7365306" cy="4236718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27C8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60000" cy="6858000"/>
          </a:xfrm>
          <a:prstGeom prst="rect">
            <a:avLst/>
          </a:prstGeom>
          <a:solidFill>
            <a:srgbClr val="E86A1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900000" y="2600000"/>
            <a:ext cx="10400000" cy="160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3600" b="1" i="0">
                <a:solidFill>
                  <a:srgbClr val="FFFFFF"/>
                </a:solidFill>
                <a:latin typeface="Calibri"/>
              </a:rPr>
              <a:t>Layer 1 - Intent &amp; Dialog State Tracking</a:t>
            </a:r>
          </a:p>
          <a:p>
            <a:r>
              <a:rPr sz="1800" b="0" i="1">
                <a:solidFill>
                  <a:srgbClr val="F5F1E8"/>
                </a:solidFill>
                <a:latin typeface="Calibri"/>
              </a:rPr>
              <a:t>Phụ trách: Trần Việt Hoàng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1E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60000" cy="6858000"/>
          </a:xfrm>
          <a:prstGeom prst="rect">
            <a:avLst/>
          </a:prstGeom>
          <a:solidFill>
            <a:srgbClr val="E86A1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00000" y="300000"/>
            <a:ext cx="9800000" cy="85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 i="0">
                <a:solidFill>
                  <a:srgbClr val="1F2D3D"/>
                </a:solidFill>
                <a:latin typeface="Calibri"/>
              </a:rPr>
              <a:t>Layer 1: Ý tưởng &amp; logic thực hiện</a:t>
            </a:r>
          </a:p>
        </p:txBody>
      </p:sp>
      <p:sp>
        <p:nvSpPr>
          <p:cNvPr id="4" name="Rectangle 3"/>
          <p:cNvSpPr/>
          <p:nvPr/>
        </p:nvSpPr>
        <p:spPr>
          <a:xfrm>
            <a:off x="9400000" y="330000"/>
            <a:ext cx="2400000" cy="520000"/>
          </a:xfrm>
          <a:prstGeom prst="rect">
            <a:avLst/>
          </a:prstGeom>
          <a:solidFill>
            <a:srgbClr val="127C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200" b="1" i="0">
                <a:solidFill>
                  <a:srgbClr val="FFFFFF"/>
                </a:solidFill>
                <a:latin typeface="Calibri"/>
              </a:rPr>
              <a:t>Hoàng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00000" y="1250000"/>
            <a:ext cx="11000000" cy="19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500" b="1" i="0">
                <a:solidFill>
                  <a:srgbClr val="E86A17"/>
                </a:solidFill>
                <a:latin typeface="Calibri"/>
              </a:rPr>
              <a:t>Ý tưởng: biến câu nói -&gt; bộ tag ngữ cảnh (multi-label) + học embedding theo ngữ cảnh</a:t>
            </a:r>
          </a:p>
          <a:p>
            <a:r>
              <a:rPr sz="1300" b="0" i="0">
                <a:solidFill>
                  <a:srgbClr val="1F2D3D"/>
                </a:solidFill>
                <a:latin typeface="Calibri"/>
              </a:rPr>
              <a:t>•  Chuẩn hóa VN + tokenize -&gt; Encoder vi-SBERT (mean pooling)</a:t>
            </a:r>
          </a:p>
          <a:p>
            <a:r>
              <a:rPr sz="1300" b="0" i="0">
                <a:solidFill>
                  <a:srgbClr val="1F2D3D"/>
                </a:solidFill>
                <a:latin typeface="Calibri"/>
              </a:rPr>
              <a:t>•  2 head: Classification (sigmoid -&gt; ~53 tag) + Projection (metric learning)</a:t>
            </a:r>
          </a:p>
          <a:p>
            <a:r>
              <a:rPr sz="1200" b="0" i="1">
                <a:solidFill>
                  <a:srgbClr val="127C8A"/>
                </a:solidFill>
                <a:latin typeface="Calibri"/>
              </a:rPr>
              <a:t>Loss = BCE multi-label + alpha(0.35) * metric loss (overlap-based similarity)</a:t>
            </a:r>
          </a:p>
        </p:txBody>
      </p:sp>
      <p:pic>
        <p:nvPicPr>
          <p:cNvPr id="6" name="Picture 5" descr="layer1_logic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363550" y="2659224"/>
            <a:ext cx="7472899" cy="4040776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1E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60000" cy="6858000"/>
          </a:xfrm>
          <a:prstGeom prst="rect">
            <a:avLst/>
          </a:prstGeom>
          <a:solidFill>
            <a:srgbClr val="E86A1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00000" y="350000"/>
            <a:ext cx="9800000" cy="9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000" b="1" i="0">
                <a:solidFill>
                  <a:srgbClr val="1F2D3D"/>
                </a:solidFill>
                <a:latin typeface="Calibri"/>
              </a:rPr>
              <a:t>Layer 1: Dialog State Tracking (logic DST)</a:t>
            </a:r>
          </a:p>
        </p:txBody>
      </p:sp>
      <p:sp>
        <p:nvSpPr>
          <p:cNvPr id="4" name="Rectangle 3"/>
          <p:cNvSpPr/>
          <p:nvPr/>
        </p:nvSpPr>
        <p:spPr>
          <a:xfrm>
            <a:off x="9400000" y="380000"/>
            <a:ext cx="2400000" cy="520000"/>
          </a:xfrm>
          <a:prstGeom prst="rect">
            <a:avLst/>
          </a:prstGeom>
          <a:solidFill>
            <a:srgbClr val="127C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1200" b="1" i="0">
                <a:solidFill>
                  <a:srgbClr val="FFFFFF"/>
                </a:solidFill>
                <a:latin typeface="Calibri"/>
              </a:rPr>
              <a:t>Hoàng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00000" y="1450000"/>
            <a:ext cx="11000000" cy="50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1000"/>
              </a:spcBef>
            </a:pPr>
            <a:r>
              <a:rPr sz="1900" b="1" i="0">
                <a:solidFill>
                  <a:srgbClr val="E86A17"/>
                </a:solidFill>
                <a:latin typeface="Calibri"/>
              </a:rPr>
              <a:t>Vai trò: tích lũy ngữ cảnh nhiều lượt, xử lý người dùng đổi ý</a:t>
            </a:r>
          </a:p>
          <a:p>
            <a:pPr>
              <a:spcBef>
                <a:spcPts val="1000"/>
              </a:spcBef>
            </a:pPr>
            <a:r>
              <a:rPr sz="1900" b="1" i="0">
                <a:solidFill>
                  <a:srgbClr val="E86A17"/>
                </a:solidFill>
                <a:latin typeface="Calibri"/>
              </a:rPr>
              <a:t>3 quy luật cập nhật state (update_context)</a:t>
            </a:r>
          </a:p>
          <a:p>
            <a:pPr>
              <a:spcBef>
                <a:spcPts val="500"/>
              </a:spcBef>
            </a:pPr>
            <a:r>
              <a:rPr sz="1600" b="0" i="0">
                <a:solidFill>
                  <a:srgbClr val="1F2D3D"/>
                </a:solidFill>
                <a:latin typeface="Calibri"/>
              </a:rPr>
              <a:t>•  1. Decay: score *= 0.92 mỗi lượt (thông tin cũ hao mòn)</a:t>
            </a:r>
          </a:p>
          <a:p>
            <a:pPr>
              <a:spcBef>
                <a:spcPts val="500"/>
              </a:spcBef>
            </a:pPr>
            <a:r>
              <a:rPr sz="1600" b="0" i="0">
                <a:solidFill>
                  <a:srgbClr val="1F2D3D"/>
                </a:solidFill>
                <a:latin typeface="Calibri"/>
              </a:rPr>
              <a:t>•  2. Accumulation: score += 0.65 * confidence (cộng dồn intent mới)</a:t>
            </a:r>
          </a:p>
          <a:p>
            <a:pPr>
              <a:spcBef>
                <a:spcPts val="500"/>
              </a:spcBef>
            </a:pPr>
            <a:r>
              <a:rPr sz="1600" b="0" i="0">
                <a:solidFill>
                  <a:srgbClr val="1F2D3D"/>
                </a:solidFill>
                <a:latin typeface="Calibri"/>
              </a:rPr>
              <a:t>•  3. Conflict resolution: cặp tag đối nghịch -&gt; giảm bên yếu theo gap (beta=0.35)</a:t>
            </a:r>
          </a:p>
          <a:p>
            <a:pPr lvl="1"/>
            <a:r>
              <a:rPr sz="1400" b="0" i="0">
                <a:solidFill>
                  <a:srgbClr val="555B66"/>
                </a:solidFill>
                <a:latin typeface="Calibri"/>
              </a:rPr>
              <a:t>–  VD: weather_hot &lt;-&gt; weather_cold, pref_spicy &lt;-&gt; pref_bland</a:t>
            </a:r>
          </a:p>
          <a:p>
            <a:pPr>
              <a:spcBef>
                <a:spcPts val="800"/>
              </a:spcBef>
            </a:pPr>
            <a:r>
              <a:rPr sz="1300" b="0" i="1">
                <a:solidFill>
                  <a:srgbClr val="127C8A"/>
                </a:solidFill>
                <a:latin typeface="Calibri"/>
              </a:rPr>
              <a:t>Output: context_scores (clamp [0,1]) -&gt; Layer 2 &amp; Layer 3; lưu session_state.json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1E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60000" cy="6858000"/>
          </a:xfrm>
          <a:prstGeom prst="rect">
            <a:avLst/>
          </a:prstGeom>
          <a:solidFill>
            <a:srgbClr val="E86A1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00000" y="350000"/>
            <a:ext cx="9800000" cy="9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000" b="1" i="0">
                <a:solidFill>
                  <a:srgbClr val="1F2D3D"/>
                </a:solidFill>
                <a:latin typeface="Calibri"/>
              </a:rPr>
              <a:t>Dữ liệu &amp; Huấn luyện Layer 1</a:t>
            </a:r>
          </a:p>
        </p:txBody>
      </p:sp>
      <p:sp>
        <p:nvSpPr>
          <p:cNvPr id="4" name="Rectangle 3"/>
          <p:cNvSpPr/>
          <p:nvPr/>
        </p:nvSpPr>
        <p:spPr>
          <a:xfrm>
            <a:off x="9400000" y="380000"/>
            <a:ext cx="2400000" cy="520000"/>
          </a:xfrm>
          <a:prstGeom prst="rect">
            <a:avLst/>
          </a:prstGeom>
          <a:solidFill>
            <a:srgbClr val="127C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1200" b="1" i="0">
                <a:solidFill>
                  <a:srgbClr val="FFFFFF"/>
                </a:solidFill>
                <a:latin typeface="Calibri"/>
              </a:rPr>
              <a:t>Hoàng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00000" y="1450000"/>
            <a:ext cx="11000000" cy="50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1000"/>
              </a:spcBef>
            </a:pPr>
            <a:r>
              <a:rPr sz="1900" b="1" i="0">
                <a:solidFill>
                  <a:srgbClr val="E86A17"/>
                </a:solidFill>
                <a:latin typeface="Calibri"/>
              </a:rPr>
              <a:t>Dataset</a:t>
            </a:r>
          </a:p>
          <a:p>
            <a:pPr>
              <a:spcBef>
                <a:spcPts val="500"/>
              </a:spcBef>
            </a:pPr>
            <a:r>
              <a:rPr sz="1600" b="0" i="0">
                <a:solidFill>
                  <a:srgbClr val="1F2D3D"/>
                </a:solidFill>
                <a:latin typeface="Calibri"/>
              </a:rPr>
              <a:t>•  5 phiên bản: dataset_v001 -&gt; dataset_v005, mỗi epoch ~160 mẫu</a:t>
            </a:r>
          </a:p>
          <a:p>
            <a:pPr>
              <a:spcBef>
                <a:spcPts val="500"/>
              </a:spcBef>
            </a:pPr>
            <a:r>
              <a:rPr sz="1600" b="0" i="0">
                <a:solidFill>
                  <a:srgbClr val="1F2D3D"/>
                </a:solidFill>
                <a:latin typeface="Calibri"/>
              </a:rPr>
              <a:t>•  Train trên active_dataset hoặc --all-datasets; gộp thêm RL offline</a:t>
            </a:r>
          </a:p>
          <a:p>
            <a:pPr>
              <a:spcBef>
                <a:spcPts val="1000"/>
              </a:spcBef>
            </a:pPr>
            <a:r>
              <a:rPr sz="1900" b="1" i="0">
                <a:solidFill>
                  <a:srgbClr val="E86A17"/>
                </a:solidFill>
                <a:latin typeface="Calibri"/>
              </a:rPr>
              <a:t>Cấu hình (dl_config.json)</a:t>
            </a:r>
          </a:p>
          <a:p>
            <a:pPr>
              <a:spcBef>
                <a:spcPts val="500"/>
              </a:spcBef>
            </a:pPr>
            <a:r>
              <a:rPr sz="1600" b="0" i="0">
                <a:solidFill>
                  <a:srgbClr val="1F2D3D"/>
                </a:solidFill>
                <a:latin typeface="Calibri"/>
              </a:rPr>
              <a:t>•  8 epochs, batch 32, lr 0.001, threshold tag 0.3</a:t>
            </a:r>
          </a:p>
          <a:p>
            <a:pPr>
              <a:spcBef>
                <a:spcPts val="500"/>
              </a:spcBef>
            </a:pPr>
            <a:r>
              <a:rPr sz="1600" b="0" i="0">
                <a:solidFill>
                  <a:srgbClr val="1F2D3D"/>
                </a:solidFill>
                <a:latin typeface="Calibri"/>
              </a:rPr>
              <a:t>•  Artifacts: intent_model.pt, vocab.json, intent_model_meta.json</a:t>
            </a:r>
          </a:p>
          <a:p>
            <a:pPr>
              <a:spcBef>
                <a:spcPts val="500"/>
              </a:spcBef>
            </a:pPr>
            <a:r>
              <a:rPr sz="1600" b="0" i="0">
                <a:solidFill>
                  <a:srgbClr val="1F2D3D"/>
                </a:solidFill>
                <a:latin typeface="Calibri"/>
              </a:rPr>
              <a:t>•  Đánh giá: micro/macro F1 trên validation (20%)</a:t>
            </a:r>
          </a:p>
          <a:p>
            <a:pPr>
              <a:spcBef>
                <a:spcPts val="800"/>
              </a:spcBef>
            </a:pPr>
            <a:r>
              <a:rPr sz="1300" b="0" i="1">
                <a:solidFill>
                  <a:srgbClr val="127C8A"/>
                </a:solidFill>
                <a:latin typeface="Calibri"/>
              </a:rPr>
              <a:t>Lệnh: make layer1-train-active | make layer1-chat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27C8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60000" cy="6858000"/>
          </a:xfrm>
          <a:prstGeom prst="rect">
            <a:avLst/>
          </a:prstGeom>
          <a:solidFill>
            <a:srgbClr val="E86A1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900000" y="2600000"/>
            <a:ext cx="10400000" cy="160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3600" b="1" i="0">
                <a:solidFill>
                  <a:srgbClr val="FFFFFF"/>
                </a:solidFill>
                <a:latin typeface="Calibri"/>
              </a:rPr>
              <a:t>Layer 2 - Adaptive Recommendation</a:t>
            </a:r>
          </a:p>
          <a:p>
            <a:r>
              <a:rPr sz="1800" b="0" i="1">
                <a:solidFill>
                  <a:srgbClr val="F5F1E8"/>
                </a:solidFill>
                <a:latin typeface="Calibri"/>
              </a:rPr>
              <a:t>Phụ trách: Bùi Đức Anh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1E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60000" cy="6858000"/>
          </a:xfrm>
          <a:prstGeom prst="rect">
            <a:avLst/>
          </a:prstGeom>
          <a:solidFill>
            <a:srgbClr val="E86A1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00000" y="300000"/>
            <a:ext cx="9800000" cy="85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 i="0">
                <a:solidFill>
                  <a:srgbClr val="1F2D3D"/>
                </a:solidFill>
                <a:latin typeface="Calibri"/>
              </a:rPr>
              <a:t>Layer 2: Ý tưởng &amp; logic thực hiện</a:t>
            </a:r>
          </a:p>
        </p:txBody>
      </p:sp>
      <p:sp>
        <p:nvSpPr>
          <p:cNvPr id="4" name="Rectangle 3"/>
          <p:cNvSpPr/>
          <p:nvPr/>
        </p:nvSpPr>
        <p:spPr>
          <a:xfrm>
            <a:off x="9400000" y="330000"/>
            <a:ext cx="2400000" cy="520000"/>
          </a:xfrm>
          <a:prstGeom prst="rect">
            <a:avLst/>
          </a:prstGeom>
          <a:solidFill>
            <a:srgbClr val="127C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200" b="1" i="0">
                <a:solidFill>
                  <a:srgbClr val="FFFFFF"/>
                </a:solidFill>
                <a:latin typeface="Calibri"/>
              </a:rPr>
              <a:t>Đức Anh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00000" y="1250000"/>
            <a:ext cx="11000000" cy="19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500" b="1" i="0">
                <a:solidFill>
                  <a:srgbClr val="E86A17"/>
                </a:solidFill>
                <a:latin typeface="Calibri"/>
              </a:rPr>
              <a:t>Ý tưởng: mỗi món = vector trọng số trên ~53 tag; gợi ý = so khớp ngữ cảnh</a:t>
            </a:r>
          </a:p>
          <a:p>
            <a:r>
              <a:rPr sz="1300" b="0" i="0">
                <a:solidFill>
                  <a:srgbClr val="1F2D3D"/>
                </a:solidFill>
                <a:latin typeface="Calibri"/>
              </a:rPr>
              <a:t>•  Mở rộng context qua similarity tag (layer2_config.json)</a:t>
            </a:r>
          </a:p>
          <a:p>
            <a:r>
              <a:rPr sz="1300" b="0" i="0">
                <a:solidFill>
                  <a:srgbClr val="1F2D3D"/>
                </a:solidFill>
                <a:latin typeface="Calibri"/>
              </a:rPr>
              <a:t>•  Linear scoring: score(món) = SUM activation(tag) * weight(món, tag)</a:t>
            </a:r>
          </a:p>
          <a:p>
            <a:r>
              <a:rPr sz="1200" b="0" i="1">
                <a:solidFill>
                  <a:srgbClr val="127C8A"/>
                </a:solidFill>
                <a:latin typeface="Calibri"/>
              </a:rPr>
              <a:t>Xếp hạng theo (score, popularity, id) -&gt; Top-K; nguồn: 100 món</a:t>
            </a:r>
          </a:p>
        </p:txBody>
      </p:sp>
      <p:pic>
        <p:nvPicPr>
          <p:cNvPr id="6" name="Picture 5" descr="layer2_logic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415318" y="2715208"/>
            <a:ext cx="7369364" cy="3984792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1E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60000" cy="6858000"/>
          </a:xfrm>
          <a:prstGeom prst="rect">
            <a:avLst/>
          </a:prstGeom>
          <a:solidFill>
            <a:srgbClr val="E86A1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00000" y="350000"/>
            <a:ext cx="9800000" cy="9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000" b="1" i="0">
                <a:solidFill>
                  <a:srgbClr val="1F2D3D"/>
                </a:solidFill>
                <a:latin typeface="Calibri"/>
              </a:rPr>
              <a:t>Layer 2: Hebbian Online Learning (logic cập nhật)</a:t>
            </a:r>
          </a:p>
        </p:txBody>
      </p:sp>
      <p:sp>
        <p:nvSpPr>
          <p:cNvPr id="4" name="Rectangle 3"/>
          <p:cNvSpPr/>
          <p:nvPr/>
        </p:nvSpPr>
        <p:spPr>
          <a:xfrm>
            <a:off x="9400000" y="380000"/>
            <a:ext cx="2400000" cy="520000"/>
          </a:xfrm>
          <a:prstGeom prst="rect">
            <a:avLst/>
          </a:prstGeom>
          <a:solidFill>
            <a:srgbClr val="127C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1200" b="1" i="0">
                <a:solidFill>
                  <a:srgbClr val="FFFFFF"/>
                </a:solidFill>
                <a:latin typeface="Calibri"/>
              </a:rPr>
              <a:t>Đức Anh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00000" y="1450000"/>
            <a:ext cx="11000000" cy="50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1000"/>
              </a:spcBef>
            </a:pPr>
            <a:r>
              <a:rPr sz="1900" b="1" i="0">
                <a:solidFill>
                  <a:srgbClr val="E86A17"/>
                </a:solidFill>
                <a:latin typeface="Calibri"/>
              </a:rPr>
              <a:t>Reward - món được chọn (apply_context_to_dish)</a:t>
            </a:r>
          </a:p>
          <a:p>
            <a:pPr>
              <a:spcBef>
                <a:spcPts val="500"/>
              </a:spcBef>
            </a:pPr>
            <a:r>
              <a:rPr sz="1600" b="0" i="0">
                <a:solidFill>
                  <a:srgbClr val="1F2D3D"/>
                </a:solidFill>
                <a:latin typeface="Calibri"/>
              </a:rPr>
              <a:t>•  Tag active (&gt;= 0.25): weight += lr_positive(0.08) * activation</a:t>
            </a:r>
          </a:p>
          <a:p>
            <a:pPr>
              <a:spcBef>
                <a:spcPts val="500"/>
              </a:spcBef>
            </a:pPr>
            <a:r>
              <a:rPr sz="1600" b="0" i="0">
                <a:solidFill>
                  <a:srgbClr val="1F2D3D"/>
                </a:solidFill>
                <a:latin typeface="Calibri"/>
              </a:rPr>
              <a:t>•  Tag không active: weight -= penalty * (0.25 - activation)</a:t>
            </a:r>
          </a:p>
          <a:p>
            <a:pPr>
              <a:spcBef>
                <a:spcPts val="1000"/>
              </a:spcBef>
            </a:pPr>
            <a:r>
              <a:rPr sz="1900" b="1" i="0">
                <a:solidFill>
                  <a:srgbClr val="E86A17"/>
                </a:solidFill>
                <a:latin typeface="Calibri"/>
              </a:rPr>
              <a:t>Penalty - món trong Top-K nhưng không được chọn</a:t>
            </a:r>
          </a:p>
          <a:p>
            <a:pPr>
              <a:spcBef>
                <a:spcPts val="500"/>
              </a:spcBef>
            </a:pPr>
            <a:r>
              <a:rPr sz="1600" b="0" i="0">
                <a:solidFill>
                  <a:srgbClr val="1F2D3D"/>
                </a:solidFill>
                <a:latin typeface="Calibri"/>
              </a:rPr>
              <a:t>•  weight -= lr_negative(0.02) * activation</a:t>
            </a:r>
          </a:p>
          <a:p>
            <a:pPr>
              <a:spcBef>
                <a:spcPts val="500"/>
              </a:spcBef>
            </a:pPr>
            <a:r>
              <a:rPr sz="1600" b="0" i="0">
                <a:solidFill>
                  <a:srgbClr val="1F2D3D"/>
                </a:solidFill>
                <a:latin typeface="Calibri"/>
              </a:rPr>
              <a:t>•  Trọng số luôn clamp [-1, 1] rồi save() xuống runtime matrix</a:t>
            </a:r>
          </a:p>
          <a:p>
            <a:pPr>
              <a:spcBef>
                <a:spcPts val="800"/>
              </a:spcBef>
            </a:pPr>
            <a:r>
              <a:rPr sz="1300" b="0" i="1">
                <a:solidFill>
                  <a:srgbClr val="127C8A"/>
                </a:solidFill>
                <a:latin typeface="Calibri"/>
              </a:rPr>
              <a:t>Demo: hiển thị score_before, score_after, delta để thấy hệ thống đã học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1E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60000" cy="6858000"/>
          </a:xfrm>
          <a:prstGeom prst="rect">
            <a:avLst/>
          </a:prstGeom>
          <a:solidFill>
            <a:srgbClr val="E86A1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00000" y="350000"/>
            <a:ext cx="9800000" cy="9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000" b="1" i="0">
                <a:solidFill>
                  <a:srgbClr val="1F2D3D"/>
                </a:solidFill>
                <a:latin typeface="Calibri"/>
              </a:rPr>
              <a:t>Quy ước dữ liệu &amp; Vận hành Layer 2</a:t>
            </a:r>
          </a:p>
        </p:txBody>
      </p:sp>
      <p:sp>
        <p:nvSpPr>
          <p:cNvPr id="4" name="Rectangle 3"/>
          <p:cNvSpPr/>
          <p:nvPr/>
        </p:nvSpPr>
        <p:spPr>
          <a:xfrm>
            <a:off x="9400000" y="380000"/>
            <a:ext cx="2400000" cy="520000"/>
          </a:xfrm>
          <a:prstGeom prst="rect">
            <a:avLst/>
          </a:prstGeom>
          <a:solidFill>
            <a:srgbClr val="127C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1200" b="1" i="0">
                <a:solidFill>
                  <a:srgbClr val="FFFFFF"/>
                </a:solidFill>
                <a:latin typeface="Calibri"/>
              </a:rPr>
              <a:t>Đức Anh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00000" y="1450000"/>
            <a:ext cx="11000000" cy="50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1000"/>
              </a:spcBef>
            </a:pPr>
            <a:r>
              <a:rPr sz="1900" b="1" i="0">
                <a:solidFill>
                  <a:srgbClr val="E86A17"/>
                </a:solidFill>
                <a:latin typeface="Calibri"/>
              </a:rPr>
              <a:t>Convention</a:t>
            </a:r>
          </a:p>
          <a:p>
            <a:pPr>
              <a:spcBef>
                <a:spcPts val="500"/>
              </a:spcBef>
            </a:pPr>
            <a:r>
              <a:rPr sz="1600" b="0" i="0">
                <a:solidFill>
                  <a:srgbClr val="1F2D3D"/>
                </a:solidFill>
                <a:latin typeface="Calibri"/>
              </a:rPr>
              <a:t>•  Mỗi layer có datasets.json khai báo active_dataset</a:t>
            </a:r>
          </a:p>
          <a:p>
            <a:pPr>
              <a:spcBef>
                <a:spcPts val="500"/>
              </a:spcBef>
            </a:pPr>
            <a:r>
              <a:rPr sz="1600" b="0" i="0">
                <a:solidFill>
                  <a:srgbClr val="1F2D3D"/>
                </a:solidFill>
                <a:latin typeface="Calibri"/>
              </a:rPr>
              <a:t>•  Data train tách khỏi runtime (dishes_runtime.json, feedback_reports.jsonl)</a:t>
            </a:r>
          </a:p>
          <a:p>
            <a:pPr>
              <a:spcBef>
                <a:spcPts val="1000"/>
              </a:spcBef>
            </a:pPr>
            <a:r>
              <a:rPr sz="1900" b="1" i="0">
                <a:solidFill>
                  <a:srgbClr val="E86A17"/>
                </a:solidFill>
                <a:latin typeface="Calibri"/>
              </a:rPr>
              <a:t>Tiện ích vận hành</a:t>
            </a:r>
          </a:p>
          <a:p>
            <a:pPr>
              <a:spcBef>
                <a:spcPts val="500"/>
              </a:spcBef>
            </a:pPr>
            <a:r>
              <a:rPr sz="1600" b="0" i="0">
                <a:solidFill>
                  <a:srgbClr val="1F2D3D"/>
                </a:solidFill>
                <a:latin typeface="Calibri"/>
              </a:rPr>
              <a:t>•  make layer2-migrate (canonical) | layer2-check (schema drift)</a:t>
            </a:r>
          </a:p>
          <a:p>
            <a:pPr>
              <a:spcBef>
                <a:spcPts val="500"/>
              </a:spcBef>
            </a:pPr>
            <a:r>
              <a:rPr sz="1600" b="0" i="0">
                <a:solidFill>
                  <a:srgbClr val="1F2D3D"/>
                </a:solidFill>
                <a:latin typeface="Calibri"/>
              </a:rPr>
              <a:t>•  make layer2-reset-runtime | layer2-test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27C8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60000" cy="6858000"/>
          </a:xfrm>
          <a:prstGeom prst="rect">
            <a:avLst/>
          </a:prstGeom>
          <a:solidFill>
            <a:srgbClr val="E86A1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900000" y="2600000"/>
            <a:ext cx="10400000" cy="160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3600" b="1" i="0">
                <a:solidFill>
                  <a:srgbClr val="FFFFFF"/>
                </a:solidFill>
                <a:latin typeface="Calibri"/>
              </a:rPr>
              <a:t>Layer 3 - Genetic Response</a:t>
            </a:r>
          </a:p>
          <a:p>
            <a:r>
              <a:rPr sz="1800" b="0" i="1">
                <a:solidFill>
                  <a:srgbClr val="F5F1E8"/>
                </a:solidFill>
                <a:latin typeface="Calibri"/>
              </a:rPr>
              <a:t>Phụ trách: Trần Bình Minh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1E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60000" cy="6858000"/>
          </a:xfrm>
          <a:prstGeom prst="rect">
            <a:avLst/>
          </a:prstGeom>
          <a:solidFill>
            <a:srgbClr val="E86A1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00000" y="300000"/>
            <a:ext cx="9800000" cy="85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 i="0">
                <a:solidFill>
                  <a:srgbClr val="1F2D3D"/>
                </a:solidFill>
                <a:latin typeface="Calibri"/>
              </a:rPr>
              <a:t>Layer 3: Ý tưởng &amp; logic thực hiện</a:t>
            </a:r>
          </a:p>
        </p:txBody>
      </p:sp>
      <p:sp>
        <p:nvSpPr>
          <p:cNvPr id="4" name="Rectangle 3"/>
          <p:cNvSpPr/>
          <p:nvPr/>
        </p:nvSpPr>
        <p:spPr>
          <a:xfrm>
            <a:off x="9400000" y="330000"/>
            <a:ext cx="2400000" cy="520000"/>
          </a:xfrm>
          <a:prstGeom prst="rect">
            <a:avLst/>
          </a:prstGeom>
          <a:solidFill>
            <a:srgbClr val="127C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200" b="1" i="0">
                <a:solidFill>
                  <a:srgbClr val="FFFFFF"/>
                </a:solidFill>
                <a:latin typeface="Calibri"/>
              </a:rPr>
              <a:t>Minh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00000" y="1250000"/>
            <a:ext cx="11000000" cy="19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500" b="1" i="0">
                <a:solidFill>
                  <a:srgbClr val="E86A17"/>
                </a:solidFill>
                <a:latin typeface="Calibri"/>
              </a:rPr>
              <a:t>Ý tưởng: câu thoại được 'tiến hóa' từ gene pool theo mood; câu tốt -&gt; fitness cao</a:t>
            </a:r>
          </a:p>
          <a:p>
            <a:r>
              <a:rPr sz="1300" b="0" i="0">
                <a:solidFill>
                  <a:srgbClr val="1F2D3D"/>
                </a:solidFill>
                <a:latin typeface="Calibri"/>
              </a:rPr>
              <a:t>•  Suy mood_key từ context_scores -&gt; khởi tạo 8 chromosome (bộ 3 gene)</a:t>
            </a:r>
          </a:p>
          <a:p>
            <a:r>
              <a:rPr sz="1300" b="0" i="0">
                <a:solidFill>
                  <a:srgbClr val="1F2D3D"/>
                </a:solidFill>
                <a:latin typeface="Calibri"/>
              </a:rPr>
              <a:t>•  Chọn cá thể: epsilon-greedy (0.2) hoặc roulette theo fitness; mutation slang</a:t>
            </a:r>
          </a:p>
          <a:p>
            <a:r>
              <a:rPr sz="1200" b="0" i="1">
                <a:solidFill>
                  <a:srgbClr val="127C8A"/>
                </a:solidFill>
                <a:latin typeface="Calibri"/>
              </a:rPr>
              <a:t>Ghép opening+action+closing -&gt; câu trả lời, chèn tên món vào {foods}</a:t>
            </a:r>
          </a:p>
        </p:txBody>
      </p:sp>
      <p:pic>
        <p:nvPicPr>
          <p:cNvPr id="6" name="Picture 5" descr="layer3_logic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16876" y="2500604"/>
            <a:ext cx="7766247" cy="4199396"/>
          </a:xfrm>
          <a:prstGeom prst="rect">
            <a:avLst/>
          </a:prstGeom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1E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60000" cy="6858000"/>
          </a:xfrm>
          <a:prstGeom prst="rect">
            <a:avLst/>
          </a:prstGeom>
          <a:solidFill>
            <a:srgbClr val="E86A1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00000" y="350000"/>
            <a:ext cx="9800000" cy="9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000" b="1" i="0">
                <a:solidFill>
                  <a:srgbClr val="1F2D3D"/>
                </a:solidFill>
                <a:latin typeface="Calibri"/>
              </a:rPr>
              <a:t>Layer 3: Fitness Update (logic phản hồi ngầm)</a:t>
            </a:r>
          </a:p>
        </p:txBody>
      </p:sp>
      <p:sp>
        <p:nvSpPr>
          <p:cNvPr id="4" name="Rectangle 3"/>
          <p:cNvSpPr/>
          <p:nvPr/>
        </p:nvSpPr>
        <p:spPr>
          <a:xfrm>
            <a:off x="9400000" y="380000"/>
            <a:ext cx="2400000" cy="520000"/>
          </a:xfrm>
          <a:prstGeom prst="rect">
            <a:avLst/>
          </a:prstGeom>
          <a:solidFill>
            <a:srgbClr val="127C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1200" b="1" i="0">
                <a:solidFill>
                  <a:srgbClr val="FFFFFF"/>
                </a:solidFill>
                <a:latin typeface="Calibri"/>
              </a:rPr>
              <a:t>Minh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00000" y="1450000"/>
            <a:ext cx="11000000" cy="50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1000"/>
              </a:spcBef>
            </a:pPr>
            <a:r>
              <a:rPr sz="1900" b="1" i="0">
                <a:solidFill>
                  <a:srgbClr val="E86A17"/>
                </a:solidFill>
                <a:latin typeface="Calibri"/>
              </a:rPr>
              <a:t>Cập nhật fitness theo implicit feedback (update_fitness)</a:t>
            </a:r>
          </a:p>
          <a:p>
            <a:pPr>
              <a:spcBef>
                <a:spcPts val="500"/>
              </a:spcBef>
            </a:pPr>
            <a:r>
              <a:rPr sz="1600" b="0" i="0">
                <a:solidFill>
                  <a:srgbClr val="1F2D3D"/>
                </a:solidFill>
                <a:latin typeface="Calibri"/>
              </a:rPr>
              <a:t>•  Người dùng chọn món -&gt; fitness += 0.25 (củng cố chromosome tốt)</a:t>
            </a:r>
          </a:p>
          <a:p>
            <a:pPr>
              <a:spcBef>
                <a:spcPts val="500"/>
              </a:spcBef>
            </a:pPr>
            <a:r>
              <a:rPr sz="1600" b="0" i="0">
                <a:solidFill>
                  <a:srgbClr val="1F2D3D"/>
                </a:solidFill>
                <a:latin typeface="Calibri"/>
              </a:rPr>
              <a:t>•  Bỏ qua / thoát -&gt; fitness -= 0.2 (tối thiểu 0.05 để không triệt tiêu)</a:t>
            </a:r>
          </a:p>
          <a:p>
            <a:pPr>
              <a:spcBef>
                <a:spcPts val="1000"/>
              </a:spcBef>
            </a:pPr>
            <a:r>
              <a:rPr sz="1900" b="1" i="0">
                <a:solidFill>
                  <a:srgbClr val="E86A17"/>
                </a:solidFill>
                <a:latin typeface="Calibri"/>
              </a:rPr>
              <a:t>Lưu trữ</a:t>
            </a:r>
          </a:p>
          <a:p>
            <a:pPr>
              <a:spcBef>
                <a:spcPts val="500"/>
              </a:spcBef>
            </a:pPr>
            <a:r>
              <a:rPr sz="1600" b="0" i="0">
                <a:solidFill>
                  <a:srgbClr val="1F2D3D"/>
                </a:solidFill>
                <a:latin typeface="Calibri"/>
              </a:rPr>
              <a:t>•  Ghi history + runtime_fitness riêng vào fitness_history.json</a:t>
            </a:r>
          </a:p>
          <a:p>
            <a:pPr>
              <a:spcBef>
                <a:spcPts val="800"/>
              </a:spcBef>
            </a:pPr>
            <a:r>
              <a:rPr sz="1300" b="0" i="1">
                <a:solidFill>
                  <a:srgbClr val="127C8A"/>
                </a:solidFill>
                <a:latin typeface="Calibri"/>
              </a:rPr>
              <a:t>Fitness cao -&gt; xác suất roulette chọn cao hơn -&gt; câu thoại tự tối ưu theo thời gian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1E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60000" cy="6858000"/>
          </a:xfrm>
          <a:prstGeom prst="rect">
            <a:avLst/>
          </a:prstGeom>
          <a:solidFill>
            <a:srgbClr val="E86A1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00000" y="350000"/>
            <a:ext cx="9800000" cy="9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000" b="1" i="0">
                <a:solidFill>
                  <a:srgbClr val="1F2D3D"/>
                </a:solidFill>
                <a:latin typeface="Calibri"/>
              </a:rPr>
              <a:t>Luồng runtime end-to-end</a:t>
            </a:r>
          </a:p>
        </p:txBody>
      </p:sp>
      <p:sp>
        <p:nvSpPr>
          <p:cNvPr id="4" name="Rectangle 3"/>
          <p:cNvSpPr/>
          <p:nvPr/>
        </p:nvSpPr>
        <p:spPr>
          <a:xfrm>
            <a:off x="9400000" y="380000"/>
            <a:ext cx="2400000" cy="520000"/>
          </a:xfrm>
          <a:prstGeom prst="rect">
            <a:avLst/>
          </a:prstGeom>
          <a:solidFill>
            <a:srgbClr val="127C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1200" b="1" i="0">
                <a:solidFill>
                  <a:srgbClr val="FFFFFF"/>
                </a:solidFill>
                <a:latin typeface="Calibri"/>
              </a:rPr>
              <a:t>Hoàng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00000" y="1450000"/>
            <a:ext cx="11000000" cy="50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1000"/>
              </a:spcBef>
            </a:pPr>
            <a:r>
              <a:rPr sz="1900" b="1" i="0">
                <a:solidFill>
                  <a:srgbClr val="E86A17"/>
                </a:solidFill>
                <a:latin typeface="Calibri"/>
              </a:rPr>
              <a:t>Kịch bản demo (main.py)</a:t>
            </a:r>
          </a:p>
          <a:p>
            <a:pPr>
              <a:spcBef>
                <a:spcPts val="500"/>
              </a:spcBef>
            </a:pPr>
            <a:r>
              <a:rPr sz="1600" b="0" i="0">
                <a:solidFill>
                  <a:srgbClr val="1F2D3D"/>
                </a:solidFill>
                <a:latin typeface="Calibri"/>
              </a:rPr>
              <a:t>•  Chat lượt 1: 'Tối nay trời lạnh, tôi muốn món nước nóng'</a:t>
            </a:r>
          </a:p>
          <a:p>
            <a:pPr>
              <a:spcBef>
                <a:spcPts val="500"/>
              </a:spcBef>
            </a:pPr>
            <a:r>
              <a:rPr sz="1600" b="0" i="0">
                <a:solidFill>
                  <a:srgbClr val="1F2D3D"/>
                </a:solidFill>
                <a:latin typeface="Calibri"/>
              </a:rPr>
              <a:t>•  Chat lượt 2..5: có thể quay xe đổi ý (DST cập nhật ngữ cảnh)</a:t>
            </a:r>
          </a:p>
          <a:p>
            <a:pPr>
              <a:spcBef>
                <a:spcPts val="500"/>
              </a:spcBef>
            </a:pPr>
            <a:r>
              <a:rPr sz="1600" b="0" i="0">
                <a:solidFill>
                  <a:srgbClr val="1F2D3D"/>
                </a:solidFill>
                <a:latin typeface="Calibri"/>
              </a:rPr>
              <a:t>•  Sau mỗi lượt: hệ thống trả câu trả lời (L3) + top-K gợi ý (L2)</a:t>
            </a:r>
          </a:p>
          <a:p>
            <a:pPr>
              <a:spcBef>
                <a:spcPts val="500"/>
              </a:spcBef>
            </a:pPr>
            <a:r>
              <a:rPr sz="1600" b="0" i="0">
                <a:solidFill>
                  <a:srgbClr val="1F2D3D"/>
                </a:solidFill>
                <a:latin typeface="Calibri"/>
              </a:rPr>
              <a:t>•  User chọn món -&gt; Hebbian (L2) + fitness (L3); không chọn -&gt; chỉ fitness</a:t>
            </a:r>
          </a:p>
          <a:p>
            <a:pPr>
              <a:spcBef>
                <a:spcPts val="800"/>
              </a:spcBef>
            </a:pPr>
            <a:r>
              <a:rPr sz="1300" b="0" i="1">
                <a:solidFill>
                  <a:srgbClr val="127C8A"/>
                </a:solidFill>
                <a:latin typeface="Calibri"/>
              </a:rPr>
              <a:t>Entry: process_turn() -&gt; apply_feedback() / apply_abandon_feedback()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1E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60000" cy="6858000"/>
          </a:xfrm>
          <a:prstGeom prst="rect">
            <a:avLst/>
          </a:prstGeom>
          <a:solidFill>
            <a:srgbClr val="E86A1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00000" y="350000"/>
            <a:ext cx="9800000" cy="9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000" b="1" i="0">
                <a:solidFill>
                  <a:srgbClr val="1F2D3D"/>
                </a:solidFill>
                <a:latin typeface="Calibri"/>
              </a:rPr>
              <a:t>Reinforcement Learning cho Layer 1 (offline)</a:t>
            </a:r>
          </a:p>
        </p:txBody>
      </p:sp>
      <p:sp>
        <p:nvSpPr>
          <p:cNvPr id="4" name="Rectangle 3"/>
          <p:cNvSpPr/>
          <p:nvPr/>
        </p:nvSpPr>
        <p:spPr>
          <a:xfrm>
            <a:off x="9400000" y="380000"/>
            <a:ext cx="2400000" cy="520000"/>
          </a:xfrm>
          <a:prstGeom prst="rect">
            <a:avLst/>
          </a:prstGeom>
          <a:solidFill>
            <a:srgbClr val="127C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1200" b="1" i="0">
                <a:solidFill>
                  <a:srgbClr val="FFFFFF"/>
                </a:solidFill>
                <a:latin typeface="Calibri"/>
              </a:rPr>
              <a:t>Hoàng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00000" y="1450000"/>
            <a:ext cx="11000000" cy="50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1000"/>
              </a:spcBef>
            </a:pPr>
            <a:r>
              <a:rPr sz="1900" b="1" i="0">
                <a:solidFill>
                  <a:srgbClr val="E86A17"/>
                </a:solidFill>
                <a:latin typeface="Calibri"/>
              </a:rPr>
              <a:t>Mục tiêu: thu thập feedback chọn món để train tăng cường - không train realtime</a:t>
            </a:r>
          </a:p>
          <a:p>
            <a:pPr>
              <a:spcBef>
                <a:spcPts val="500"/>
              </a:spcBef>
            </a:pPr>
            <a:r>
              <a:rPr sz="1600" b="0" i="0">
                <a:solidFill>
                  <a:srgbClr val="1F2D3D"/>
                </a:solidFill>
                <a:latin typeface="Calibri"/>
              </a:rPr>
              <a:t>•  1. Logging: ghi event khi user chọn món -&gt; selected_dish_events.jsonl</a:t>
            </a:r>
          </a:p>
          <a:p>
            <a:pPr>
              <a:spcBef>
                <a:spcPts val="500"/>
              </a:spcBef>
            </a:pPr>
            <a:r>
              <a:rPr sz="1600" b="0" i="0">
                <a:solidFill>
                  <a:srgbClr val="1F2D3D"/>
                </a:solidFill>
                <a:latin typeface="Calibri"/>
              </a:rPr>
              <a:t>•  2. Simulator: sinh dữ liệu giả lập -&gt; selected_dish_events_simulated.jsonl</a:t>
            </a:r>
          </a:p>
          <a:p>
            <a:pPr>
              <a:spcBef>
                <a:spcPts val="500"/>
              </a:spcBef>
            </a:pPr>
            <a:r>
              <a:rPr sz="1600" b="0" i="0">
                <a:solidFill>
                  <a:srgbClr val="1F2D3D"/>
                </a:solidFill>
                <a:latin typeface="Calibri"/>
              </a:rPr>
              <a:t>•  3. Offline train: chuyển feedback -&gt; intent_train_data_rl.json</a:t>
            </a:r>
          </a:p>
          <a:p>
            <a:pPr>
              <a:spcBef>
                <a:spcPts val="500"/>
              </a:spcBef>
            </a:pPr>
            <a:r>
              <a:rPr sz="1600" b="0" i="0">
                <a:solidFill>
                  <a:srgbClr val="1F2D3D"/>
                </a:solidFill>
                <a:latin typeface="Calibri"/>
              </a:rPr>
              <a:t>•  Thống kê: 102 events -&gt; 102 train samples (stats.json)</a:t>
            </a:r>
          </a:p>
          <a:p>
            <a:pPr>
              <a:spcBef>
                <a:spcPts val="800"/>
              </a:spcBef>
            </a:pPr>
            <a:r>
              <a:rPr sz="1300" b="0" i="1">
                <a:solidFill>
                  <a:srgbClr val="127C8A"/>
                </a:solidFill>
                <a:latin typeface="Calibri"/>
              </a:rPr>
              <a:t>Lệnh: make layer1-rl-generate -&gt; layer1-rl-train -&gt; layer1-rl-check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27C8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60000" cy="6858000"/>
          </a:xfrm>
          <a:prstGeom prst="rect">
            <a:avLst/>
          </a:prstGeom>
          <a:solidFill>
            <a:srgbClr val="E86A1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900000" y="2600000"/>
            <a:ext cx="10400000" cy="160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3600" b="1" i="0">
                <a:solidFill>
                  <a:srgbClr val="FFFFFF"/>
                </a:solidFill>
                <a:latin typeface="Calibri"/>
              </a:rPr>
              <a:t>Đánh giá hiệu quả</a:t>
            </a:r>
          </a:p>
          <a:p>
            <a:r>
              <a:rPr sz="1800" b="0" i="1">
                <a:solidFill>
                  <a:srgbClr val="F5F1E8"/>
                </a:solidFill>
                <a:latin typeface="Calibri"/>
              </a:rPr>
              <a:t>Phụ trách: Cả nhóm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1E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60000" cy="6858000"/>
          </a:xfrm>
          <a:prstGeom prst="rect">
            <a:avLst/>
          </a:prstGeom>
          <a:solidFill>
            <a:srgbClr val="E86A1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00000" y="350000"/>
            <a:ext cx="9800000" cy="9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000" b="1" i="0">
                <a:solidFill>
                  <a:srgbClr val="1F2D3D"/>
                </a:solidFill>
                <a:latin typeface="Calibri"/>
              </a:rPr>
              <a:t>Pipeline đánh giá &amp; phương pháp</a:t>
            </a:r>
          </a:p>
        </p:txBody>
      </p:sp>
      <p:sp>
        <p:nvSpPr>
          <p:cNvPr id="4" name="Rectangle 3"/>
          <p:cNvSpPr/>
          <p:nvPr/>
        </p:nvSpPr>
        <p:spPr>
          <a:xfrm>
            <a:off x="9400000" y="380000"/>
            <a:ext cx="2400000" cy="520000"/>
          </a:xfrm>
          <a:prstGeom prst="rect">
            <a:avLst/>
          </a:prstGeom>
          <a:solidFill>
            <a:srgbClr val="127C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1200" b="1" i="0">
                <a:solidFill>
                  <a:srgbClr val="FFFFFF"/>
                </a:solidFill>
                <a:latin typeface="Calibri"/>
              </a:rPr>
              <a:t>Hoàng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00000" y="1450000"/>
            <a:ext cx="11000000" cy="50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1000"/>
              </a:spcBef>
            </a:pPr>
            <a:r>
              <a:rPr sz="1900" b="1" i="0">
                <a:solidFill>
                  <a:srgbClr val="E86A17"/>
                </a:solidFill>
                <a:latin typeface="Calibri"/>
              </a:rPr>
              <a:t>Package: src/evaluation/ (metrics, layer1/2/3_eval, pipeline_eval)</a:t>
            </a:r>
          </a:p>
          <a:p>
            <a:pPr>
              <a:spcBef>
                <a:spcPts val="500"/>
              </a:spcBef>
            </a:pPr>
            <a:r>
              <a:rPr sz="1600" b="0" i="0">
                <a:solidFill>
                  <a:srgbClr val="1F2D3D"/>
                </a:solidFill>
                <a:latin typeface="Calibri"/>
              </a:rPr>
              <a:t>•  make layer3-simulate — bổ sung data giả lập L3</a:t>
            </a:r>
          </a:p>
          <a:p>
            <a:pPr>
              <a:spcBef>
                <a:spcPts val="500"/>
              </a:spcBef>
            </a:pPr>
            <a:r>
              <a:rPr sz="1600" b="0" i="0">
                <a:solidFill>
                  <a:srgbClr val="1F2D3D"/>
                </a:solidFill>
                <a:latin typeface="Calibri"/>
              </a:rPr>
              <a:t>•  make eval-run — đánh giá toàn bộ (skip train L1)</a:t>
            </a:r>
          </a:p>
          <a:p>
            <a:pPr>
              <a:spcBef>
                <a:spcPts val="500"/>
              </a:spcBef>
            </a:pPr>
            <a:r>
              <a:rPr sz="1600" b="0" i="0">
                <a:solidFill>
                  <a:srgbClr val="1F2D3D"/>
                </a:solidFill>
                <a:latin typeface="Calibri"/>
              </a:rPr>
              <a:t>•  make eval-train-and-run — train ablation L1 + đánh giá</a:t>
            </a:r>
          </a:p>
          <a:p>
            <a:pPr>
              <a:spcBef>
                <a:spcPts val="1000"/>
              </a:spcBef>
            </a:pPr>
            <a:r>
              <a:rPr sz="1900" b="1" i="0">
                <a:solidFill>
                  <a:srgbClr val="E86A17"/>
                </a:solidFill>
                <a:latin typeface="Calibri"/>
              </a:rPr>
              <a:t>Tập dữ liệu đánh giá</a:t>
            </a:r>
          </a:p>
          <a:p>
            <a:pPr>
              <a:spcBef>
                <a:spcPts val="500"/>
              </a:spcBef>
            </a:pPr>
            <a:r>
              <a:rPr sz="1600" b="0" i="0">
                <a:solidFill>
                  <a:srgbClr val="1F2D3D"/>
                </a:solidFill>
                <a:latin typeface="Calibri"/>
              </a:rPr>
              <a:t>•  L1: validation 20% intent (all datasets) — 142 mẫu</a:t>
            </a:r>
          </a:p>
          <a:p>
            <a:pPr>
              <a:spcBef>
                <a:spcPts val="500"/>
              </a:spcBef>
            </a:pPr>
            <a:r>
              <a:rPr sz="1600" b="0" i="0">
                <a:solidFill>
                  <a:srgbClr val="1F2D3D"/>
                </a:solidFill>
                <a:latin typeface="Calibri"/>
              </a:rPr>
              <a:t>•  L2 Oracle: intent_samples.csv tag lý tưởng — 709 mẫu</a:t>
            </a:r>
          </a:p>
          <a:p>
            <a:pPr>
              <a:spcBef>
                <a:spcPts val="500"/>
              </a:spcBef>
            </a:pPr>
            <a:r>
              <a:rPr sz="1600" b="0" i="0">
                <a:solidFill>
                  <a:srgbClr val="1F2D3D"/>
                </a:solidFill>
                <a:latin typeface="Calibri"/>
              </a:rPr>
              <a:t>•  L2 Behavioral: RL events (4 runtime + 100 simulated) — 104 events</a:t>
            </a:r>
          </a:p>
          <a:p>
            <a:pPr>
              <a:spcBef>
                <a:spcPts val="500"/>
              </a:spcBef>
            </a:pPr>
            <a:r>
              <a:rPr sz="1600" b="0" i="0">
                <a:solidFill>
                  <a:srgbClr val="1F2D3D"/>
                </a:solidFill>
                <a:latin typeface="Calibri"/>
              </a:rPr>
              <a:t>•  L3: fitness_history (11 runtime + 50 simulated) — 61 lượt</a:t>
            </a:r>
          </a:p>
          <a:p>
            <a:pPr>
              <a:spcBef>
                <a:spcPts val="800"/>
              </a:spcBef>
            </a:pPr>
            <a:r>
              <a:rPr sz="1300" b="0" i="1">
                <a:solidFill>
                  <a:srgbClr val="127C8A"/>
                </a:solidFill>
                <a:latin typeface="Calibri"/>
              </a:rPr>
              <a:t>Metric: F1 (L1), Hit@K/MRR/NDCG (L2), success rate/fitness (L3), feedback delta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1E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60000" cy="6858000"/>
          </a:xfrm>
          <a:prstGeom prst="rect">
            <a:avLst/>
          </a:prstGeom>
          <a:solidFill>
            <a:srgbClr val="E86A1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00000" y="300000"/>
            <a:ext cx="9800000" cy="85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 i="0">
                <a:solidFill>
                  <a:srgbClr val="1F2D3D"/>
                </a:solidFill>
                <a:latin typeface="Calibri"/>
              </a:rPr>
              <a:t>Kết quả đánh giá tổng hợp</a:t>
            </a:r>
          </a:p>
        </p:txBody>
      </p:sp>
      <p:sp>
        <p:nvSpPr>
          <p:cNvPr id="4" name="Rectangle 3"/>
          <p:cNvSpPr/>
          <p:nvPr/>
        </p:nvSpPr>
        <p:spPr>
          <a:xfrm>
            <a:off x="9400000" y="330000"/>
            <a:ext cx="2400000" cy="520000"/>
          </a:xfrm>
          <a:prstGeom prst="rect">
            <a:avLst/>
          </a:prstGeom>
          <a:solidFill>
            <a:srgbClr val="127C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200" b="1" i="0">
                <a:solidFill>
                  <a:srgbClr val="FFFFFF"/>
                </a:solidFill>
                <a:latin typeface="Calibri"/>
              </a:rPr>
              <a:t>Cả nhóm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00000" y="1250000"/>
            <a:ext cx="11000000" cy="19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500" b="1" i="0">
                <a:solidFill>
                  <a:srgbClr val="E86A17"/>
                </a:solidFill>
                <a:latin typeface="Calibri"/>
              </a:rPr>
              <a:t>Run: 20260610_004458 | Chi tiết: docs/evaluation_metrics.md</a:t>
            </a:r>
          </a:p>
          <a:p>
            <a:r>
              <a:rPr sz="1300" b="0" i="0">
                <a:solidFill>
                  <a:srgbClr val="1F2D3D"/>
                </a:solidFill>
                <a:latin typeface="Calibri"/>
              </a:rPr>
              <a:t>•  L1 Macro F1 = 0.189 | L2 Oracle Hit@5 = 1.0 | L2 Behavioral Hit@5 = 0.039</a:t>
            </a:r>
          </a:p>
          <a:p>
            <a:r>
              <a:rPr sz="1300" b="0" i="0">
                <a:solidFill>
                  <a:srgbClr val="1F2D3D"/>
                </a:solidFill>
                <a:latin typeface="Calibri"/>
              </a:rPr>
              <a:t>•  L3 Success rate = 52.5% (61 lượt) | E2E Hit@5 = 0.039 | Feedback delta = +0.647</a:t>
            </a:r>
          </a:p>
          <a:p>
            <a:r>
              <a:rPr sz="1200" b="0" i="1">
                <a:solidFill>
                  <a:srgbClr val="127C8A"/>
                </a:solidFill>
                <a:latin typeface="Calibri"/>
              </a:rPr>
              <a:t>Oracle cao -&gt; scoring tốt khi tag chuẩn; behavioral thấp -&gt; context runtime khó hơn</a:t>
            </a:r>
          </a:p>
        </p:txBody>
      </p:sp>
      <p:pic>
        <p:nvPicPr>
          <p:cNvPr id="6" name="Picture 5" descr="evaluation_metric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32761" y="2436370"/>
            <a:ext cx="8534477" cy="4351662"/>
          </a:xfrm>
          <a:prstGeom prst="rect">
            <a:avLst/>
          </a:prstGeom>
        </p:spPr>
      </p:pic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1E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60000" cy="6858000"/>
          </a:xfrm>
          <a:prstGeom prst="rect">
            <a:avLst/>
          </a:prstGeom>
          <a:solidFill>
            <a:srgbClr val="E86A1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00000" y="350000"/>
            <a:ext cx="9800000" cy="9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000" b="1" i="0">
                <a:solidFill>
                  <a:srgbClr val="1F2D3D"/>
                </a:solidFill>
                <a:latin typeface="Calibri"/>
              </a:rPr>
              <a:t>Chi tiết metric từng layer</a:t>
            </a:r>
          </a:p>
        </p:txBody>
      </p:sp>
      <p:sp>
        <p:nvSpPr>
          <p:cNvPr id="4" name="Rectangle 3"/>
          <p:cNvSpPr/>
          <p:nvPr/>
        </p:nvSpPr>
        <p:spPr>
          <a:xfrm>
            <a:off x="9400000" y="380000"/>
            <a:ext cx="2400000" cy="520000"/>
          </a:xfrm>
          <a:prstGeom prst="rect">
            <a:avLst/>
          </a:prstGeom>
          <a:solidFill>
            <a:srgbClr val="127C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1200" b="1" i="0">
                <a:solidFill>
                  <a:srgbClr val="FFFFFF"/>
                </a:solidFill>
                <a:latin typeface="Calibri"/>
              </a:rPr>
              <a:t>Cả nhóm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00000" y="1450000"/>
            <a:ext cx="11000000" cy="50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1000"/>
              </a:spcBef>
            </a:pPr>
            <a:r>
              <a:rPr sz="1900" b="1" i="0">
                <a:solidFill>
                  <a:srgbClr val="E86A17"/>
                </a:solidFill>
                <a:latin typeface="Calibri"/>
              </a:rPr>
              <a:t>Layer 1 (val 142)</a:t>
            </a:r>
          </a:p>
          <a:p>
            <a:pPr>
              <a:spcBef>
                <a:spcPts val="500"/>
              </a:spcBef>
            </a:pPr>
            <a:r>
              <a:rPr sz="1600" b="0" i="0">
                <a:solidFill>
                  <a:srgbClr val="1F2D3D"/>
                </a:solidFill>
                <a:latin typeface="Calibri"/>
              </a:rPr>
              <a:t>•  Micro F1 = 0.291, Macro F1 = 0.189, Precision = 0.748, Recall = 0.181</a:t>
            </a:r>
          </a:p>
          <a:p>
            <a:pPr>
              <a:spcBef>
                <a:spcPts val="500"/>
              </a:spcBef>
            </a:pPr>
            <a:r>
              <a:rPr sz="1600" b="0" i="0">
                <a:solidFill>
                  <a:srgbClr val="1F2D3D"/>
                </a:solidFill>
                <a:latin typeface="Calibri"/>
              </a:rPr>
              <a:t>•  Ablation RL: delta macro F1 = 0 (chưa train ablation thành công)</a:t>
            </a:r>
          </a:p>
          <a:p>
            <a:pPr>
              <a:spcBef>
                <a:spcPts val="1000"/>
              </a:spcBef>
            </a:pPr>
            <a:r>
              <a:rPr sz="1900" b="1" i="0">
                <a:solidFill>
                  <a:srgbClr val="E86A17"/>
                </a:solidFill>
                <a:latin typeface="Calibri"/>
              </a:rPr>
              <a:t>Layer 2</a:t>
            </a:r>
          </a:p>
          <a:p>
            <a:pPr>
              <a:spcBef>
                <a:spcPts val="500"/>
              </a:spcBef>
            </a:pPr>
            <a:r>
              <a:rPr sz="1600" b="0" i="0">
                <a:solidFill>
                  <a:srgbClr val="1F2D3D"/>
                </a:solidFill>
                <a:latin typeface="Calibri"/>
              </a:rPr>
              <a:t>•  Oracle (709): Hit@5 = 1.0, NDCG@5 = 0.971 — upper bound scoring</a:t>
            </a:r>
          </a:p>
          <a:p>
            <a:pPr>
              <a:spcBef>
                <a:spcPts val="500"/>
              </a:spcBef>
            </a:pPr>
            <a:r>
              <a:rPr sz="1600" b="0" i="0">
                <a:solidFill>
                  <a:srgbClr val="1F2D3D"/>
                </a:solidFill>
                <a:latin typeface="Calibri"/>
              </a:rPr>
              <a:t>•  Behavioral (104): Hit@5 = 0.039, MRR = 0.017, mean rank ~ 5.87</a:t>
            </a:r>
          </a:p>
          <a:p>
            <a:pPr>
              <a:spcBef>
                <a:spcPts val="1000"/>
              </a:spcBef>
            </a:pPr>
            <a:r>
              <a:rPr sz="1900" b="1" i="0">
                <a:solidFill>
                  <a:srgbClr val="E86A17"/>
                </a:solidFill>
                <a:latin typeface="Calibri"/>
              </a:rPr>
              <a:t>Layer 3 &amp; Pipeline</a:t>
            </a:r>
          </a:p>
          <a:p>
            <a:pPr>
              <a:spcBef>
                <a:spcPts val="500"/>
              </a:spcBef>
            </a:pPr>
            <a:r>
              <a:rPr sz="1600" b="0" i="0">
                <a:solidFill>
                  <a:srgbClr val="1F2D3D"/>
                </a:solidFill>
                <a:latin typeface="Calibri"/>
              </a:rPr>
              <a:t>•  L3: success 52.5% (runtime 54.6%, simulated 52.0%), 33 chromosome, avg fitness 2.61</a:t>
            </a:r>
          </a:p>
          <a:p>
            <a:pPr>
              <a:spcBef>
                <a:spcPts val="500"/>
              </a:spcBef>
            </a:pPr>
            <a:r>
              <a:rPr sz="1600" b="0" i="0">
                <a:solidFill>
                  <a:srgbClr val="1F2D3D"/>
                </a:solidFill>
                <a:latin typeface="Calibri"/>
              </a:rPr>
              <a:t>•  E2E: tag overlap 0.251; Hebbian feedback delta mean +0.647</a:t>
            </a:r>
          </a:p>
          <a:p>
            <a:pPr>
              <a:spcBef>
                <a:spcPts val="800"/>
              </a:spcBef>
            </a:pPr>
            <a:r>
              <a:rPr sz="1300" b="0" i="1">
                <a:solidFill>
                  <a:srgbClr val="127C8A"/>
                </a:solidFill>
                <a:latin typeface="Calibri"/>
              </a:rPr>
              <a:t>Hạn chế: L2/L3 chủ yếu simulated; L3 không có BLEU/ROUGE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1E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60000" cy="6858000"/>
          </a:xfrm>
          <a:prstGeom prst="rect">
            <a:avLst/>
          </a:prstGeom>
          <a:solidFill>
            <a:srgbClr val="E86A1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00000" y="350000"/>
            <a:ext cx="9800000" cy="9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000" b="1" i="0">
                <a:solidFill>
                  <a:srgbClr val="1F2D3D"/>
                </a:solidFill>
                <a:latin typeface="Calibri"/>
              </a:rPr>
              <a:t>Triển khai &amp; DevOps</a:t>
            </a:r>
          </a:p>
        </p:txBody>
      </p:sp>
      <p:sp>
        <p:nvSpPr>
          <p:cNvPr id="4" name="Rectangle 3"/>
          <p:cNvSpPr/>
          <p:nvPr/>
        </p:nvSpPr>
        <p:spPr>
          <a:xfrm>
            <a:off x="9400000" y="380000"/>
            <a:ext cx="2400000" cy="520000"/>
          </a:xfrm>
          <a:prstGeom prst="rect">
            <a:avLst/>
          </a:prstGeom>
          <a:solidFill>
            <a:srgbClr val="127C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1200" b="1" i="0">
                <a:solidFill>
                  <a:srgbClr val="FFFFFF"/>
                </a:solidFill>
                <a:latin typeface="Calibri"/>
              </a:rPr>
              <a:t>Đức Anh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00000" y="1450000"/>
            <a:ext cx="11000000" cy="50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1000"/>
              </a:spcBef>
            </a:pPr>
            <a:r>
              <a:rPr sz="1900" b="1" i="0">
                <a:solidFill>
                  <a:srgbClr val="E86A17"/>
                </a:solidFill>
                <a:latin typeface="Calibri"/>
              </a:rPr>
              <a:t>Makefile - một lệnh cho mỗi tác vụ</a:t>
            </a:r>
          </a:p>
          <a:p>
            <a:pPr>
              <a:spcBef>
                <a:spcPts val="500"/>
              </a:spcBef>
            </a:pPr>
            <a:r>
              <a:rPr sz="1600" b="0" i="0">
                <a:solidFill>
                  <a:srgbClr val="1F2D3D"/>
                </a:solidFill>
                <a:latin typeface="Calibri"/>
              </a:rPr>
              <a:t>•  make setup | app-run | app-demo | eval-run | layer{1,2,3}-*</a:t>
            </a:r>
          </a:p>
          <a:p>
            <a:pPr>
              <a:spcBef>
                <a:spcPts val="1000"/>
              </a:spcBef>
            </a:pPr>
            <a:r>
              <a:rPr sz="1900" b="1" i="0">
                <a:solidFill>
                  <a:srgbClr val="E86A17"/>
                </a:solidFill>
                <a:latin typeface="Calibri"/>
              </a:rPr>
              <a:t>Docker</a:t>
            </a:r>
          </a:p>
          <a:p>
            <a:pPr>
              <a:spcBef>
                <a:spcPts val="500"/>
              </a:spcBef>
            </a:pPr>
            <a:r>
              <a:rPr sz="1600" b="0" i="0">
                <a:solidFill>
                  <a:srgbClr val="1F2D3D"/>
                </a:solidFill>
                <a:latin typeface="Calibri"/>
              </a:rPr>
              <a:t>•  docker/layer1|2|3/docker-compose.yml + docker/app/ (full app)</a:t>
            </a:r>
          </a:p>
          <a:p>
            <a:pPr>
              <a:spcBef>
                <a:spcPts val="1000"/>
              </a:spcBef>
            </a:pPr>
            <a:r>
              <a:rPr sz="1900" b="1" i="0">
                <a:solidFill>
                  <a:srgbClr val="E86A17"/>
                </a:solidFill>
                <a:latin typeface="Calibri"/>
              </a:rPr>
              <a:t>Testing</a:t>
            </a:r>
          </a:p>
          <a:p>
            <a:pPr>
              <a:spcBef>
                <a:spcPts val="500"/>
              </a:spcBef>
            </a:pPr>
            <a:r>
              <a:rPr sz="1600" b="0" i="0">
                <a:solidFill>
                  <a:srgbClr val="1F2D3D"/>
                </a:solidFill>
                <a:latin typeface="Calibri"/>
              </a:rPr>
              <a:t>•  test_layer2.py, test_layer2_integration.py, test_feedback_logging.py, test_metrics.py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1E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60000" cy="6858000"/>
          </a:xfrm>
          <a:prstGeom prst="rect">
            <a:avLst/>
          </a:prstGeom>
          <a:solidFill>
            <a:srgbClr val="E86A1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00000" y="350000"/>
            <a:ext cx="9800000" cy="9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000" b="1" i="0">
                <a:solidFill>
                  <a:srgbClr val="1F2D3D"/>
                </a:solidFill>
                <a:latin typeface="Calibri"/>
              </a:rPr>
              <a:t>Demo minh họa</a:t>
            </a:r>
          </a:p>
        </p:txBody>
      </p:sp>
      <p:sp>
        <p:nvSpPr>
          <p:cNvPr id="4" name="Rectangle 3"/>
          <p:cNvSpPr/>
          <p:nvPr/>
        </p:nvSpPr>
        <p:spPr>
          <a:xfrm>
            <a:off x="9400000" y="380000"/>
            <a:ext cx="2400000" cy="520000"/>
          </a:xfrm>
          <a:prstGeom prst="rect">
            <a:avLst/>
          </a:prstGeom>
          <a:solidFill>
            <a:srgbClr val="127C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1200" b="1" i="0">
                <a:solidFill>
                  <a:srgbClr val="FFFFFF"/>
                </a:solidFill>
                <a:latin typeface="Calibri"/>
              </a:rPr>
              <a:t>Minh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00000" y="1450000"/>
            <a:ext cx="11000000" cy="50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1000"/>
              </a:spcBef>
            </a:pPr>
            <a:r>
              <a:rPr sz="1900" b="1" i="0">
                <a:solidFill>
                  <a:srgbClr val="E86A17"/>
                </a:solidFill>
                <a:latin typeface="Calibri"/>
              </a:rPr>
              <a:t>Ví dụ non-interactive (make app-demo)</a:t>
            </a:r>
          </a:p>
          <a:p>
            <a:pPr lvl="1"/>
            <a:r>
              <a:rPr sz="1400" b="0" i="0">
                <a:solidFill>
                  <a:srgbClr val="555B66"/>
                </a:solidFill>
                <a:latin typeface="Calibri"/>
              </a:rPr>
              <a:t>–  Chat 1: 'Tối nay trời lạnh, tôi muốn món nước nóng'</a:t>
            </a:r>
          </a:p>
          <a:p>
            <a:pPr lvl="1"/>
            <a:r>
              <a:rPr sz="1400" b="0" i="0">
                <a:solidFill>
                  <a:srgbClr val="555B66"/>
                </a:solidFill>
                <a:latin typeface="Calibri"/>
              </a:rPr>
              <a:t>–  Bot: câu trả lời genetic + Top 5 món + score</a:t>
            </a:r>
          </a:p>
          <a:p>
            <a:pPr lvl="1"/>
            <a:r>
              <a:rPr sz="1400" b="0" i="0">
                <a:solidFill>
                  <a:srgbClr val="555B66"/>
                </a:solidFill>
                <a:latin typeface="Calibri"/>
              </a:rPr>
              <a:t>–  Chat 2..5: 'Quay xe, giờ tôi muốn món nhanh và tiện lợi'</a:t>
            </a:r>
          </a:p>
          <a:p>
            <a:pPr lvl="1"/>
            <a:r>
              <a:rPr sz="1400" b="0" i="0">
                <a:solidFill>
                  <a:srgbClr val="555B66"/>
                </a:solidFill>
                <a:latin typeface="Calibri"/>
              </a:rPr>
              <a:t>–  Feedback: chosen=dish_001 -&gt; delta score</a:t>
            </a:r>
          </a:p>
          <a:p>
            <a:pPr>
              <a:spcBef>
                <a:spcPts val="1000"/>
              </a:spcBef>
            </a:pPr>
            <a:r>
              <a:rPr sz="1900" b="1" i="0">
                <a:solidFill>
                  <a:srgbClr val="E86A17"/>
                </a:solidFill>
                <a:latin typeface="Calibri"/>
              </a:rPr>
              <a:t>Điểm cần nhấn</a:t>
            </a:r>
          </a:p>
          <a:p>
            <a:pPr>
              <a:spcBef>
                <a:spcPts val="500"/>
              </a:spcBef>
            </a:pPr>
            <a:r>
              <a:rPr sz="1600" b="0" i="0">
                <a:solidFill>
                  <a:srgbClr val="1F2D3D"/>
                </a:solidFill>
                <a:latin typeface="Calibri"/>
              </a:rPr>
              <a:t>•  DST xử lý 'quay xe' | score món đổi sau feedback | câu trả lời theo mood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1E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60000" cy="6858000"/>
          </a:xfrm>
          <a:prstGeom prst="rect">
            <a:avLst/>
          </a:prstGeom>
          <a:solidFill>
            <a:srgbClr val="E86A1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00000" y="350000"/>
            <a:ext cx="9800000" cy="9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000" b="1" i="0">
                <a:solidFill>
                  <a:srgbClr val="1F2D3D"/>
                </a:solidFill>
                <a:latin typeface="Calibri"/>
              </a:rPr>
              <a:t>Hạn chế &amp; Kết luận</a:t>
            </a:r>
          </a:p>
        </p:txBody>
      </p:sp>
      <p:sp>
        <p:nvSpPr>
          <p:cNvPr id="4" name="Rectangle 3"/>
          <p:cNvSpPr/>
          <p:nvPr/>
        </p:nvSpPr>
        <p:spPr>
          <a:xfrm>
            <a:off x="9400000" y="380000"/>
            <a:ext cx="2400000" cy="520000"/>
          </a:xfrm>
          <a:prstGeom prst="rect">
            <a:avLst/>
          </a:prstGeom>
          <a:solidFill>
            <a:srgbClr val="127C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1200" b="1" i="0">
                <a:solidFill>
                  <a:srgbClr val="FFFFFF"/>
                </a:solidFill>
                <a:latin typeface="Calibri"/>
              </a:rPr>
              <a:t>Cả nhóm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00000" y="1450000"/>
            <a:ext cx="11000000" cy="50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1000"/>
              </a:spcBef>
            </a:pPr>
            <a:r>
              <a:rPr sz="1900" b="1" i="0">
                <a:solidFill>
                  <a:srgbClr val="E86A17"/>
                </a:solidFill>
                <a:latin typeface="Calibri"/>
              </a:rPr>
              <a:t>Ưu điểm</a:t>
            </a:r>
          </a:p>
          <a:p>
            <a:pPr>
              <a:spcBef>
                <a:spcPts val="500"/>
              </a:spcBef>
            </a:pPr>
            <a:r>
              <a:rPr sz="1600" b="0" i="0">
                <a:solidFill>
                  <a:srgbClr val="1F2D3D"/>
                </a:solidFill>
                <a:latin typeface="Calibri"/>
              </a:rPr>
              <a:t>•  Modular, offline, DL multi-label + DST + Hebbian + GA + RL offline</a:t>
            </a:r>
          </a:p>
          <a:p>
            <a:pPr>
              <a:spcBef>
                <a:spcPts val="500"/>
              </a:spcBef>
            </a:pPr>
            <a:r>
              <a:rPr sz="1600" b="0" i="0">
                <a:solidFill>
                  <a:srgbClr val="1F2D3D"/>
                </a:solidFill>
                <a:latin typeface="Calibri"/>
              </a:rPr>
              <a:t>•  Đã có pipeline đánh giá định lượng (make eval-run)</a:t>
            </a:r>
          </a:p>
          <a:p>
            <a:pPr>
              <a:spcBef>
                <a:spcPts val="1000"/>
              </a:spcBef>
            </a:pPr>
            <a:r>
              <a:rPr sz="1900" b="1" i="0">
                <a:solidFill>
                  <a:srgbClr val="E86A17"/>
                </a:solidFill>
                <a:latin typeface="Calibri"/>
              </a:rPr>
              <a:t>Kết quả nổi bật</a:t>
            </a:r>
          </a:p>
          <a:p>
            <a:pPr>
              <a:spcBef>
                <a:spcPts val="500"/>
              </a:spcBef>
            </a:pPr>
            <a:r>
              <a:rPr sz="1600" b="0" i="0">
                <a:solidFill>
                  <a:srgbClr val="1F2D3D"/>
                </a:solidFill>
                <a:latin typeface="Calibri"/>
              </a:rPr>
              <a:t>•  L2 Oracle Hit@5 = 1.0 | L3 success rate ~ 52.5% | Hebbian delta +0.647</a:t>
            </a:r>
          </a:p>
          <a:p>
            <a:pPr>
              <a:spcBef>
                <a:spcPts val="1000"/>
              </a:spcBef>
            </a:pPr>
            <a:r>
              <a:rPr sz="1900" b="1" i="0">
                <a:solidFill>
                  <a:srgbClr val="E86A17"/>
                </a:solidFill>
                <a:latin typeface="Calibri"/>
              </a:rPr>
              <a:t>Hạn chế</a:t>
            </a:r>
          </a:p>
          <a:p>
            <a:pPr>
              <a:spcBef>
                <a:spcPts val="500"/>
              </a:spcBef>
            </a:pPr>
            <a:r>
              <a:rPr sz="1600" b="0" i="0">
                <a:solidFill>
                  <a:srgbClr val="1F2D3D"/>
                </a:solidFill>
                <a:latin typeface="Calibri"/>
              </a:rPr>
              <a:t>•  Dataset nhỏ; L2 behavioral Hit@5 thấp (0.039); L1 recall thấp (0.18)</a:t>
            </a:r>
          </a:p>
          <a:p>
            <a:pPr>
              <a:spcBef>
                <a:spcPts val="500"/>
              </a:spcBef>
            </a:pPr>
            <a:r>
              <a:rPr sz="1600" b="0" i="0">
                <a:solidFill>
                  <a:srgbClr val="1F2D3D"/>
                </a:solidFill>
                <a:latin typeface="Calibri"/>
              </a:rPr>
              <a:t>•  L2/L3 eval chủ yếu simulated; chưa có UI</a:t>
            </a:r>
          </a:p>
          <a:p>
            <a:pPr>
              <a:spcBef>
                <a:spcPts val="1000"/>
              </a:spcBef>
            </a:pPr>
            <a:r>
              <a:rPr sz="1900" b="1" i="0">
                <a:solidFill>
                  <a:srgbClr val="E86A17"/>
                </a:solidFill>
                <a:latin typeface="Calibri"/>
              </a:rPr>
              <a:t>Hướng phát triển</a:t>
            </a:r>
          </a:p>
          <a:p>
            <a:pPr>
              <a:spcBef>
                <a:spcPts val="500"/>
              </a:spcBef>
            </a:pPr>
            <a:r>
              <a:rPr sz="1600" b="0" i="0">
                <a:solidFill>
                  <a:srgbClr val="1F2D3D"/>
                </a:solidFill>
                <a:latin typeface="Calibri"/>
              </a:rPr>
              <a:t>•  Thu thập phiên chat thật, mở rộng corpus, UI, ablation RL L1</a:t>
            </a:r>
          </a:p>
          <a:p>
            <a:pPr>
              <a:spcBef>
                <a:spcPts val="800"/>
              </a:spcBef>
            </a:pPr>
            <a:r>
              <a:rPr sz="1300" b="0" i="1">
                <a:solidFill>
                  <a:srgbClr val="127C8A"/>
                </a:solidFill>
                <a:latin typeface="Calibri"/>
              </a:rPr>
              <a:t>Food Moo Duu: pipeline NLP end-to-end tự học từ lựa chọn người dùng. Cảm ơn - Q&amp;A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2</TotalTime>
  <Words>1754</Words>
  <Application>Microsoft Office PowerPoint</Application>
  <PresentationFormat>Widescreen</PresentationFormat>
  <Paragraphs>177</Paragraphs>
  <Slides>24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24</vt:i4>
      </vt:variant>
    </vt:vector>
  </HeadingPairs>
  <TitlesOfParts>
    <vt:vector size="27" baseType="lpstr">
      <vt:lpstr>Arial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subject/>
  <dc:creator/>
  <cp:keywords/>
  <dc:description>generated using python-pptx</dc:description>
  <cp:lastModifiedBy>Admin</cp:lastModifiedBy>
  <cp:revision>2</cp:revision>
  <dcterms:created xsi:type="dcterms:W3CDTF">2013-01-27T09:14:16Z</dcterms:created>
  <dcterms:modified xsi:type="dcterms:W3CDTF">2026-06-09T17:57:56Z</dcterms:modified>
  <cp:category/>
</cp:coreProperties>
</file>