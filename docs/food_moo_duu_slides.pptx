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700000"/>
            <a:ext cx="10400000" cy="1882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 dirty="0">
                <a:solidFill>
                  <a:srgbClr val="FFFFFF"/>
                </a:solidFill>
                <a:latin typeface="Calibri"/>
              </a:rPr>
              <a:t>Food Moo </a:t>
            </a:r>
            <a:r>
              <a:rPr sz="4400" b="1" i="0" dirty="0" err="1" smtClean="0">
                <a:solidFill>
                  <a:srgbClr val="FFFFFF"/>
                </a:solidFill>
                <a:latin typeface="Calibri"/>
              </a:rPr>
              <a:t>Duu</a:t>
            </a:r>
            <a:endParaRPr lang="en-US" sz="4400" b="1" i="0" dirty="0" smtClean="0">
              <a:solidFill>
                <a:srgbClr val="FFFFFF"/>
              </a:solidFill>
              <a:latin typeface="Calibri"/>
            </a:endParaRPr>
          </a:p>
          <a:p>
            <a:r>
              <a:rPr sz="4400" b="1" i="0" dirty="0" err="1" smtClean="0">
                <a:solidFill>
                  <a:srgbClr val="FFFFFF"/>
                </a:solidFill>
                <a:latin typeface="Calibri"/>
              </a:rPr>
              <a:t>Hệ</a:t>
            </a:r>
            <a:r>
              <a:rPr sz="44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4400" b="1" i="0" dirty="0" err="1">
                <a:solidFill>
                  <a:srgbClr val="FFFFFF"/>
                </a:solidFill>
                <a:latin typeface="Calibri"/>
              </a:rPr>
              <a:t>thống</a:t>
            </a:r>
            <a:r>
              <a:rPr sz="4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400" b="1" i="0" dirty="0" err="1">
                <a:solidFill>
                  <a:srgbClr val="FFFFFF"/>
                </a:solidFill>
                <a:latin typeface="Calibri"/>
              </a:rPr>
              <a:t>gợi</a:t>
            </a:r>
            <a:r>
              <a:rPr sz="4400" b="1" i="0" dirty="0">
                <a:solidFill>
                  <a:srgbClr val="FFFFFF"/>
                </a:solidFill>
                <a:latin typeface="Calibri"/>
              </a:rPr>
              <a:t> ý </a:t>
            </a:r>
            <a:r>
              <a:rPr sz="4400" b="1" i="0" dirty="0" err="1">
                <a:solidFill>
                  <a:srgbClr val="FFFFFF"/>
                </a:solidFill>
                <a:latin typeface="Calibri"/>
              </a:rPr>
              <a:t>món</a:t>
            </a:r>
            <a:r>
              <a:rPr sz="4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400" b="1" i="0" dirty="0" err="1">
                <a:solidFill>
                  <a:srgbClr val="FFFFFF"/>
                </a:solidFill>
                <a:latin typeface="Calibri"/>
              </a:rPr>
              <a:t>ăn</a:t>
            </a:r>
            <a:r>
              <a:rPr sz="4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400" b="1" i="0" dirty="0" err="1">
                <a:solidFill>
                  <a:srgbClr val="FFFFFF"/>
                </a:solidFill>
                <a:latin typeface="Calibri"/>
              </a:rPr>
              <a:t>thông</a:t>
            </a:r>
            <a:r>
              <a:rPr sz="4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400" b="1" i="0" dirty="0" smtClean="0">
                <a:solidFill>
                  <a:srgbClr val="FFFFFF"/>
                </a:solidFill>
                <a:latin typeface="Calibri"/>
              </a:rPr>
              <a:t>minh</a:t>
            </a:r>
            <a:endParaRPr sz="4400" b="1" i="0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r>
              <a:rPr sz="2000" b="0" i="1" dirty="0">
                <a:solidFill>
                  <a:srgbClr val="E86A17"/>
                </a:solidFill>
                <a:latin typeface="Calibri"/>
              </a:rPr>
              <a:t>"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Là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bò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,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sáng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phải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rống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 -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Là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người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,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sống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phải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86A17"/>
                </a:solidFill>
                <a:latin typeface="Calibri"/>
              </a:rPr>
              <a:t>ráng</a:t>
            </a:r>
            <a:r>
              <a:rPr sz="2000" b="0" i="1" dirty="0">
                <a:solidFill>
                  <a:srgbClr val="E86A17"/>
                </a:solidFill>
                <a:latin typeface="Calibri"/>
              </a:rPr>
              <a:t>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100000"/>
            <a:ext cx="10400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 dirty="0" err="1">
                <a:solidFill>
                  <a:srgbClr val="127C8A"/>
                </a:solidFill>
                <a:latin typeface="Calibri"/>
              </a:rPr>
              <a:t>Nhóm</a:t>
            </a:r>
            <a:r>
              <a:rPr sz="1600" b="1" i="0" dirty="0">
                <a:solidFill>
                  <a:srgbClr val="127C8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127C8A"/>
                </a:solidFill>
                <a:latin typeface="Calibri"/>
              </a:rPr>
              <a:t>thực</a:t>
            </a:r>
            <a:r>
              <a:rPr sz="1600" b="1" i="0" dirty="0">
                <a:solidFill>
                  <a:srgbClr val="127C8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127C8A"/>
                </a:solidFill>
                <a:latin typeface="Calibri"/>
              </a:rPr>
              <a:t>hiện</a:t>
            </a:r>
            <a:endParaRPr sz="1600" b="1" i="0" dirty="0">
              <a:solidFill>
                <a:srgbClr val="127C8A"/>
              </a:solidFill>
              <a:latin typeface="Calibri"/>
            </a:endParaRPr>
          </a:p>
          <a:p>
            <a:r>
              <a:rPr sz="1600" b="0" i="0" dirty="0" err="1">
                <a:solidFill>
                  <a:srgbClr val="F5F1E8"/>
                </a:solidFill>
                <a:latin typeface="Calibri"/>
              </a:rPr>
              <a:t>Trần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Việt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Hoàng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 -  Layer 1 </a:t>
            </a:r>
            <a:r>
              <a:rPr lang="en-US" sz="1600" b="0" i="0" dirty="0" smtClean="0">
                <a:solidFill>
                  <a:srgbClr val="F5F1E8"/>
                </a:solidFill>
                <a:latin typeface="Calibri"/>
              </a:rPr>
              <a:t>–</a:t>
            </a:r>
            <a:r>
              <a:rPr sz="1600" b="0" i="0" dirty="0" smtClean="0">
                <a:solidFill>
                  <a:srgbClr val="F5F1E8"/>
                </a:solidFill>
                <a:latin typeface="Calibri"/>
              </a:rPr>
              <a:t> Tag</a:t>
            </a:r>
            <a:r>
              <a:rPr lang="en-US" sz="1600" b="0" i="0" dirty="0" smtClean="0">
                <a:solidFill>
                  <a:srgbClr val="F5F1E8"/>
                </a:solidFill>
                <a:latin typeface="Calibri"/>
              </a:rPr>
              <a:t> </a:t>
            </a:r>
            <a:r>
              <a:rPr lang="en-US" sz="1600" b="0" i="0" dirty="0" err="1" smtClean="0">
                <a:solidFill>
                  <a:srgbClr val="F5F1E8"/>
                </a:solidFill>
                <a:latin typeface="Calibri"/>
              </a:rPr>
              <a:t>Detech</a:t>
            </a:r>
            <a:r>
              <a:rPr sz="1600" b="0" i="0" dirty="0" smtClean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+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Kiến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trúc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tổng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thể</a:t>
            </a:r>
            <a:endParaRPr sz="1600" b="0" i="0" dirty="0">
              <a:solidFill>
                <a:srgbClr val="F5F1E8"/>
              </a:solidFill>
              <a:latin typeface="Calibri"/>
            </a:endParaRPr>
          </a:p>
          <a:p>
            <a:r>
              <a:rPr sz="1600" b="0" i="0" dirty="0" err="1">
                <a:solidFill>
                  <a:srgbClr val="F5F1E8"/>
                </a:solidFill>
                <a:latin typeface="Calibri"/>
              </a:rPr>
              <a:t>Bùi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Đức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Anh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 -  Layer 2 - Adaptive Recommendation</a:t>
            </a:r>
          </a:p>
          <a:p>
            <a:r>
              <a:rPr sz="1600" b="0" i="0" dirty="0" err="1">
                <a:solidFill>
                  <a:srgbClr val="F5F1E8"/>
                </a:solidFill>
                <a:latin typeface="Calibri"/>
              </a:rPr>
              <a:t>Trần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1E8"/>
                </a:solidFill>
                <a:latin typeface="Calibri"/>
              </a:rPr>
              <a:t>Bình</a:t>
            </a:r>
            <a:r>
              <a:rPr sz="1600" b="0" i="0" dirty="0">
                <a:solidFill>
                  <a:srgbClr val="F5F1E8"/>
                </a:solidFill>
                <a:latin typeface="Calibri"/>
              </a:rPr>
              <a:t> Minh  -  Layer 3 - Genetic Response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Vấn đề &amp; Mục tiêu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Vấn đề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Người dùng mô tả nhu cầu ăn uống bằng ngôn ngữ tự nhiên, đa chiều (thời gian, thời tiết, tâm trạng, khẩu vị)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Cần hệ thống offline, không phụ thuộc API cloud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Cần học từ phản hồi khi người dùng chọn hoặc bỏ qua gợi ý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Mục tiêu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Xây dựng chatbot gợi ý món ăn theo kiến trúc 3 tầng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Theo dõi ngữ cảnh hội thoại nhiều lượt (multi-turn)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Tự cập nhật mô hình gợi ý và câu trả lời theo feedback ngầm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Tổng quan giải pháp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Ý tưởng cốt lõi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Pipeline xử lý tuần tự 3 layer: DL + học trực tuyến + thuật toán di truyền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Điểm nổi bật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Offline end-to-end qua main.py -&gt; FoodSuggestionPipeline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Mỗi layer chạy độc lập được (train/test/docker riêng)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Dữ liệu train và runtime tách biệt rõ ràng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Công nghệ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Python, PyTorch, scikit-learn, pandas, Docker, Makefile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Kiến trúc hệ thống (sơ đồ tổng thể)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Luồng xử lý + 2 vòng phản hồi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User -&gt; L1 (Intent+DST) -&gt; L2 (Scoring) -&gt; L3 (Response) -&gt; User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Feedback: Hebbian update (L2) + Fitness update (L3); RL offline cho L1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560" y="2565918"/>
            <a:ext cx="7186879" cy="41340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1 - Intent &amp; Dialog State Tracking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Trần Việt Hoàng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1: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biến câu nói -&gt; bộ tag ngữ cảnh (multi-label) + học embedding theo ngữ cảnh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Chuẩn hóa VN + tokenize -&gt; Encoder vi-SBERT (mean pooling)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2 head: Classification (sigmoid -&gt; ~53 tag) + Projection (metric learning)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Loss = BCE multi-label + alpha(0.35) * metric loss (overlap-based similarity)</a:t>
            </a:r>
          </a:p>
        </p:txBody>
      </p:sp>
      <p:pic>
        <p:nvPicPr>
          <p:cNvPr id="6" name="Picture 5" descr="layer1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364" y="2864498"/>
            <a:ext cx="7093271" cy="38355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1: Dialog State Tracking (logic DST)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Vai trò: tích lũy ngữ cảnh nhiều lượt, xử lý người dùng đổi ý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3 quy luật cập nhật state (update_context)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1. Decay: score *= 0.92 mỗi lượt (thông tin cũ hao mòn)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2. Accumulation: score += 0.65 * confidence (cộng dồn intent mới)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3. Conflict resolution: cặp tag đối nghịch -&gt; giảm bên yếu theo gap (beta=0.35)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VD: weather_hot &lt;-&gt; weather_cold, pref_spicy &lt;-&gt; pref_bland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Output: context_scores (clamp [0,1]) -&gt; Layer 2 &amp; Layer 3; lưu session_state.json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Dữ liệu &amp; Huấn luyện Layer 1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Dataset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5 phiên bản: dataset_v001 -&gt; dataset_v005, mỗi epoch ~160 mẫu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Train trên active_dataset hoặc --all-datasets; gộp thêm RL offline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Cấu hình (dl_config.json)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8 epochs, batch 32, lr 0.001, threshold tag 0.3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Artifacts: intent_model.pt, vocab.json, intent_model_meta.json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Đánh giá: micro/macro F1 trên validation (20%)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Lệnh: make layer1-train-active | make layer1-chat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2 - Adaptive Recommendation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Bùi Đức Anh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2: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mỗi món = vector trọng số trên ~53 tag; gợi ý = so khớp ngữ cảnh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Mở rộng context qua similarity tag (layer2_config.json)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Linear scoring: score(món) = SUM activation(tag) * weight(món, tag)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Xếp hạng theo (score, popularity, id) -&gt; Top-K; nguồn: 100 món</a:t>
            </a:r>
          </a:p>
        </p:txBody>
      </p:sp>
      <p:pic>
        <p:nvPicPr>
          <p:cNvPr id="6" name="Picture 5" descr="layer2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969" y="2799184"/>
            <a:ext cx="7214061" cy="39008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2: Hebbian Online Learning (logic cập nhật)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Reward - món được chọn (apply_context_to_dish)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Tag active (&gt;= 0.25): weight += lr_positive(0.08) * activation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Tag không active: weight -= penalty * (0.25 - activation)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Penalty - món trong Top-K nhưng không được chọn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weight -= lr_negative(0.02) * activation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Trọng số luôn clamp [-1, 1] rồi save() xuống runtime matrix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Demo: hiển thị score_before, score_after, delta để thấy hệ thống đã học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Quy ước dữ liệu &amp; Vận hành Layer 2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Convention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Mỗi layer có datasets.json khai báo active_dataset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Data train tách khỏi runtime (dishes_runtime.json, feedback_reports.jsonl)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Tiện ích vận hành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layer2-migrate (canonical) | layer2-check (schema drift)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layer2-reset-runtime | layer2-test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3 - Genetic Response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Trần Bình Minh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3: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câu thoại được 'tiến hóa' từ gene pool theo mood; câu tốt -&gt; fitness cao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Suy mood_key từ context_scores -&gt; khởi tạo 8 chromosome (bộ 3 gene)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Chọn cá thể: epsilon-greedy (0.2) hoặc roulette theo fitness; mutation slang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Ghép opening+action+closing -&gt; câu trả lời, chèn tên món vào {foods}</a:t>
            </a:r>
          </a:p>
        </p:txBody>
      </p:sp>
      <p:pic>
        <p:nvPicPr>
          <p:cNvPr id="6" name="Picture 5" descr="layer3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752" y="2748121"/>
            <a:ext cx="7308496" cy="39518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3: Fitness Update (logic phản hồi ngầm)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Cập nhật fitness theo implicit feedback (update_fitness)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Người dùng chọn món -&gt; fitness += 0.25 (củng cố chromosome tốt)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Bỏ qua / thoát -&gt; fitness -= 0.2 (tối thiểu 0.05 để không triệt tiêu)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Lưu trữ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Ghi history + runtime_fitness riêng vào fitness_history.json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Fitness cao -&gt; xác suất roulette chọn cao hơn -&gt; câu thoại tự tối ưu theo thời gian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Luồng runtime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Kịch bản demo (main.py)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Chat lượt 1: 'Tối nay trời lạnh, tôi muốn món nước nóng'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Chat lượt 2..5: có thể quay xe đổi ý (DST cập nhật ngữ cảnh)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Sau mỗi lượt: hệ thống trả câu trả lời (L3) + top-K gợi ý (L2)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User chọn món -&gt; Hebbian (L2) + fitness (L3); không chọn -&gt; chỉ fitness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Entry: process_turn() -&gt; apply_feedback() / apply_abandon_feedback()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Reinforcement Learning cho Layer 1 (offline)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Mục tiêu: thu thập feedback chọn món để train tăng cường - không train realtime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1. Logging: ghi event khi user chọn món -&gt; selected_dish_events.jsonl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2. Simulator: sinh dữ liệu giả lập -&gt; selected_dish_events_simulated.jsonl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3. Offline train: chuyển feedback -&gt; intent_train_data_rl.json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Thống kê: 102 events -&gt; 102 train samples (stats.json)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Lệnh: make layer1-rl-generate -&gt; layer1-rl-train -&gt; layer1-rl-check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Triển khai &amp; DevOps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Makefile - một lệnh cho mỗi tác vụ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setup | app-run | app-demo | layer{1,2,3}-*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Docker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docker/layer1|2|3/docker-compose.yml + docker/app/ (full app)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Testing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test_layer2.py, test_layer2_integration.py, test_feedback_logging.py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Demo minh họa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Ví dụ non-interactive (make app-demo)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Chat 1: 'Tối nay trời lạnh, tôi muốn món nước nóng'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Bot: câu trả lời genetic + Top 5 món + score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Chat 2..5: 'Quay xe, giờ tôi muốn món nhanh và tiện lợi'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Feedback: chosen=dish_001 -&gt; delta score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Điểm cần nhấn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DST xử lý 'quay xe' | score món đổi sau feedback | câu trả lời theo mood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Đánh giá, Hạn chế &amp; Kết luận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Cả nhóm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Ưu điểm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Modular, offline, kết hợp DL multi-label + DST + Hebbian + GA + RL offline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Hạn chế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Dataset nhỏ (~160 mẫu/epoch, 100 món); L3 template cố định; chưa có UI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Hướng phát triển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Mở rộng corpus, UI chat, đánh giá định lượng, RL train định kỳ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Food Moo Duu: pipeline NLP end-to-end tự học từ lựa chọn người dùng. Cảm ơn -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1371</Words>
  <Application>Microsoft Office PowerPoint</Application>
  <PresentationFormat>Widescreen</PresentationFormat>
  <Paragraphs>142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Admin</cp:lastModifiedBy>
  <cp:revision>5</cp:revision>
  <dcterms:created xsi:type="dcterms:W3CDTF">2013-01-27T09:14:16Z</dcterms:created>
  <dcterms:modified xsi:type="dcterms:W3CDTF">2026-06-08T19:21:35Z</dcterms:modified>
  <cp:category/>
</cp:coreProperties>
</file>